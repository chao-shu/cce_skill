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4843e3e5d947fc" /><Relationship Type="http://schemas.openxmlformats.org/officeDocument/2006/relationships/extended-properties" Target="/docProps/app.xml" Id="R8f40862cb6d846c1" /><Relationship Type="http://schemas.openxmlformats.org/officeDocument/2006/relationships/officeDocument" Target="/ppt/presentation.xml" Id="R774d09e1515448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5ce3b4f9e54f3e"/>
  </p:sldMasterIdLst>
  <p:notesMasterIdLst>
    <p:notesMasterId xmlns:r="http://schemas.openxmlformats.org/officeDocument/2006/relationships" r:id="R91890ca6f26343f8"/>
  </p:notesMasterIdLst>
  <p:sldIdLst>
    <p:sldId xmlns:r="http://schemas.openxmlformats.org/officeDocument/2006/relationships" id="256" r:id="Reb6d0e6c1aaf434c"/>
    <p:sldId xmlns:r="http://schemas.openxmlformats.org/officeDocument/2006/relationships" id="257" r:id="R3c07db6c75814591"/>
    <p:sldId xmlns:r="http://schemas.openxmlformats.org/officeDocument/2006/relationships" id="258" r:id="Rd67aef2d79c643bc"/>
    <p:sldId xmlns:r="http://schemas.openxmlformats.org/officeDocument/2006/relationships" id="259" r:id="Reb7ee357c8434150"/>
    <p:sldId xmlns:r="http://schemas.openxmlformats.org/officeDocument/2006/relationships" id="260" r:id="R17c2dd0fc9754db0"/>
    <p:sldId xmlns:r="http://schemas.openxmlformats.org/officeDocument/2006/relationships" id="261" r:id="Rbe4363f6a44b42fa"/>
    <p:sldId xmlns:r="http://schemas.openxmlformats.org/officeDocument/2006/relationships" id="262" r:id="R486c5a8964494b29"/>
    <p:sldId xmlns:r="http://schemas.openxmlformats.org/officeDocument/2006/relationships" id="263" r:id="Rf9011aed005448de"/>
    <p:sldId xmlns:r="http://schemas.openxmlformats.org/officeDocument/2006/relationships" id="264" r:id="Rc23dc4605245446d"/>
    <p:sldId xmlns:r="http://schemas.openxmlformats.org/officeDocument/2006/relationships" id="265" r:id="Rfc78299a263c4255"/>
    <p:sldId xmlns:r="http://schemas.openxmlformats.org/officeDocument/2006/relationships" id="266" r:id="R7f94f83d0b344327"/>
    <p:sldId xmlns:r="http://schemas.openxmlformats.org/officeDocument/2006/relationships" id="267" r:id="R586a973148bb4463"/>
    <p:sldId xmlns:r="http://schemas.openxmlformats.org/officeDocument/2006/relationships" id="268" r:id="R4d12537403084da4"/>
    <p:sldId xmlns:r="http://schemas.openxmlformats.org/officeDocument/2006/relationships" id="269" r:id="R28cee1921e994a78"/>
    <p:sldId xmlns:r="http://schemas.openxmlformats.org/officeDocument/2006/relationships" id="270" r:id="R060562080ff24a4b"/>
    <p:sldId xmlns:r="http://schemas.openxmlformats.org/officeDocument/2006/relationships" id="271" r:id="R28327aa2d42b4d0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2dab123ac1411e" /><Relationship Type="http://schemas.openxmlformats.org/officeDocument/2006/relationships/slideMaster" Target="/ppt/slideMasters/slideMaster1.xml" Id="Rbc5ce3b4f9e54f3e" /><Relationship Type="http://schemas.openxmlformats.org/officeDocument/2006/relationships/notesMaster" Target="/ppt/notesMasters/notesMaster1.xml" Id="R91890ca6f26343f8" /><Relationship Type="http://schemas.openxmlformats.org/officeDocument/2006/relationships/presProps" Target="/ppt/presProps.xml" Id="Rd691424fecca422b" /><Relationship Type="http://schemas.openxmlformats.org/officeDocument/2006/relationships/tableStyles" Target="/ppt/tableStyles.xml" Id="R806bb29662b344ea" /><Relationship Type="http://schemas.openxmlformats.org/officeDocument/2006/relationships/slide" Target="/ppt/slides/slide1.xml" Id="Reb6d0e6c1aaf434c" /><Relationship Type="http://schemas.openxmlformats.org/officeDocument/2006/relationships/slide" Target="/ppt/slides/slide2.xml" Id="R3c07db6c75814591" /><Relationship Type="http://schemas.openxmlformats.org/officeDocument/2006/relationships/slide" Target="/ppt/slides/slide3.xml" Id="Rd67aef2d79c643bc" /><Relationship Type="http://schemas.openxmlformats.org/officeDocument/2006/relationships/slide" Target="/ppt/slides/slide4.xml" Id="Reb7ee357c8434150" /><Relationship Type="http://schemas.openxmlformats.org/officeDocument/2006/relationships/slide" Target="/ppt/slides/slide5.xml" Id="R17c2dd0fc9754db0" /><Relationship Type="http://schemas.openxmlformats.org/officeDocument/2006/relationships/slide" Target="/ppt/slides/slide6.xml" Id="Rbe4363f6a44b42fa" /><Relationship Type="http://schemas.openxmlformats.org/officeDocument/2006/relationships/slide" Target="/ppt/slides/slide7.xml" Id="R486c5a8964494b29" /><Relationship Type="http://schemas.openxmlformats.org/officeDocument/2006/relationships/slide" Target="/ppt/slides/slide8.xml" Id="Rf9011aed005448de" /><Relationship Type="http://schemas.openxmlformats.org/officeDocument/2006/relationships/slide" Target="/ppt/slides/slide9.xml" Id="Rc23dc4605245446d" /><Relationship Type="http://schemas.openxmlformats.org/officeDocument/2006/relationships/slide" Target="/ppt/slides/slide10.xml" Id="Rfc78299a263c4255" /><Relationship Type="http://schemas.openxmlformats.org/officeDocument/2006/relationships/slide" Target="/ppt/slides/slide11.xml" Id="R7f94f83d0b344327" /><Relationship Type="http://schemas.openxmlformats.org/officeDocument/2006/relationships/slide" Target="/ppt/slides/slide12.xml" Id="R586a973148bb4463" /><Relationship Type="http://schemas.openxmlformats.org/officeDocument/2006/relationships/slide" Target="/ppt/slides/slide13.xml" Id="R4d12537403084da4" /><Relationship Type="http://schemas.openxmlformats.org/officeDocument/2006/relationships/slide" Target="/ppt/slides/slide14.xml" Id="R28cee1921e994a78" /><Relationship Type="http://schemas.openxmlformats.org/officeDocument/2006/relationships/slide" Target="/ppt/slides/slide15.xml" Id="R060562080ff24a4b" /><Relationship Type="http://schemas.openxmlformats.org/officeDocument/2006/relationships/slide" Target="/ppt/slides/slide16.xml" Id="R28327aa2d42b4d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c8f080e61c94a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63236e447a46dd" /><Relationship Type="http://schemas.openxmlformats.org/officeDocument/2006/relationships/notesMaster" Target="/ppt/notesMasters/notesMaster1.xml" Id="R6aa7d9aa9cce48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ed1c6b34cd48d9" /><Relationship Type="http://schemas.openxmlformats.org/officeDocument/2006/relationships/notesMaster" Target="/ppt/notesMasters/notesMaster1.xml" Id="R469a54f86c2d4a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fb95f3bfd84697" /><Relationship Type="http://schemas.openxmlformats.org/officeDocument/2006/relationships/notesMaster" Target="/ppt/notesMasters/notesMaster1.xml" Id="R6842c77824b14b8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b0a85de67f3469e" /><Relationship Type="http://schemas.openxmlformats.org/officeDocument/2006/relationships/notesMaster" Target="/ppt/notesMasters/notesMaster1.xml" Id="Rca256ca2f9ca425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5c591c69f324557" /><Relationship Type="http://schemas.openxmlformats.org/officeDocument/2006/relationships/notesMaster" Target="/ppt/notesMasters/notesMaster1.xml" Id="Re73b597836fd41e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8acd2692c4c4258" /><Relationship Type="http://schemas.openxmlformats.org/officeDocument/2006/relationships/notesMaster" Target="/ppt/notesMasters/notesMaster1.xml" Id="R4ca8a774408041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4877877be6e4a73" /><Relationship Type="http://schemas.openxmlformats.org/officeDocument/2006/relationships/notesMaster" Target="/ppt/notesMasters/notesMaster1.xml" Id="R49efaef1a8364c3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421d04324df4c09" /><Relationship Type="http://schemas.openxmlformats.org/officeDocument/2006/relationships/notesMaster" Target="/ppt/notesMasters/notesMaster1.xml" Id="R49a2be957bec40c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085f820c7bd4717" /><Relationship Type="http://schemas.openxmlformats.org/officeDocument/2006/relationships/notesMaster" Target="/ppt/notesMasters/notesMaster1.xml" Id="Rf89b8232d63842b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f7bef8b078349f4" /><Relationship Type="http://schemas.openxmlformats.org/officeDocument/2006/relationships/notesMaster" Target="/ppt/notesMasters/notesMaster1.xml" Id="R83795c3727fc498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c4f684815474736" /><Relationship Type="http://schemas.openxmlformats.org/officeDocument/2006/relationships/notesMaster" Target="/ppt/notesMasters/notesMaster1.xml" Id="R5012c08a72c04e2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4a6308a59494152" /><Relationship Type="http://schemas.openxmlformats.org/officeDocument/2006/relationships/notesMaster" Target="/ppt/notesMasters/notesMaster1.xml" Id="R0b05fa3cc36f414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543e0a6bf694728" /><Relationship Type="http://schemas.openxmlformats.org/officeDocument/2006/relationships/notesMaster" Target="/ppt/notesMasters/notesMaster1.xml" Id="R026fad89fcc4479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7a691dc73aa43b3" /><Relationship Type="http://schemas.openxmlformats.org/officeDocument/2006/relationships/notesMaster" Target="/ppt/notesMasters/notesMaster1.xml" Id="Rd0092f04e2a04be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afc162fdac14eb9" /><Relationship Type="http://schemas.openxmlformats.org/officeDocument/2006/relationships/notesMaster" Target="/ppt/notesMasters/notesMaster1.xml" Id="Rf62d9272c465425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86988f80bd04b05" /><Relationship Type="http://schemas.openxmlformats.org/officeDocument/2006/relationships/notesMaster" Target="/ppt/notesMasters/notesMaster1.xml" Id="R8fd76961281340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设计说明基于仓库 3.2.0，固定提交 72662e7。没有提供或暗示已完成实际 310P 板端验证。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https://github.com/chao-shu/CCE_SKILL/blob/72662e7fe4adfd3cbf378486b2eebc5c5aae8a05/README.zh-CN.md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https://github.com/chao-shu/CCE_SKILL/blob/72662e7fe4adfd3cbf378486b2eebc5c5aae8a05/README.zh-CN.md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https://github.com/chao-shu/CCE_SKILL/blob/72662e7fe4adfd3cbf378486b2eebc5c5aae8a05/README.zh-CN.md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https://github.com/chao-shu/CCE_SKILL/blob/72662e7fe4adfd3cbf378486b2eebc5c5aae8a05/README.zh-CN.md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14 个算子阶段：environment、repo-context、semantic-analysis、kb-retrieval、test-generation、davinci-design、baseline-codegen、build-debug、accuracy-validation、profiling、performance-optimization、regression、release-audit、kb-curation。失败时也应收尾审计并记录有证据的经验，不意味所有失败都会进入后续性能阶段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https://github.com/chao-shu/CCE_SKILL/blob/72662e7fe4adfd3cbf378486b2eebc5c5aae8a05/README.zh-CN.md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https://github.com/chao-shu/CCE_SKILL/blob/72662e7fe4adfd3cbf378486b2eebc5c5aae8a05/README.zh-CN.md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https://github.com/chao-shu/CCE_SKILL/blob/72662e7fe4adfd3cbf378486b2eebc5c5aae8a05/README.zh-CN.md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回滚只覆盖显式文件清单，不负责清单外文件或外部板卡状态。候选新增文件在删除前保留快照。详见压缩包内 contracts/OPTIMIZATION_EVIDENCE.md。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https://github.com/chao-shu/CCE_SKILL/blob/72662e7fe4adfd3cbf378486b2eebc5c5aae8a05/README.zh-CN.md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图为知识流向，不是无条件自动执行器。摄取由用户主动独立调用；新资料再次摄取也需用户明确要求。知识卡为源文件，SQLite 为可重建检索索引。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https://github.com/chao-shu/CCE_SKILL/blob/72662e7fe4adfd3cbf378486b2eebc5c5aae8a05/README.zh-CN.md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https://github.com/chao-shu/CCE_SKILL/blob/72662e7fe4adfd3cbf378486b2eebc5c5aae8a05/README.zh-CN.md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https://github.com/chao-shu/CCE_SKILL/blob/72662e7fe4adfd3cbf378486b2eebc5c5aae8a05/README.zh-CN.md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https://github.com/chao-shu/CCE_SKILL/blob/72662e7fe4adfd3cbf378486b2eebc5c5aae8a05/README.zh-CN.md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完整索引路径为 .operator-agent/kb.sqlite；主入口为 .opencode/skills/ascend310p-ccec-operator-orchestrator/SKILL.md，独立入口为 .opencode/skills/ascend310p-ccec-kb-ingestion/SKILL.md。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https://github.com/chao-shu/CCE_SKILL/blob/72662e7fe4adfd3cbf378486b2eebc5c5aae8a05/README.zh-CN.md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离线检查结果来自此前本项目 3.2.0 修复与打包验证记录。本 PPT 制作没有新增执行 310P 硬件测试。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https://github.com/chao-shu/CCE_SKILL/blob/72662e7fe4adfd3cbf378486b2eebc5c5aae8a05/README.zh-CN.md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本页是建议验收计划，不是已完成事项。验收应在用户真实环境执行，缺少条件时如实标记 BLOCKED 或 NOT_RUN。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https://github.com/chao-shu/CCE_SKILL/blob/72662e7fe4adfd3cbf378486b2eebc5c5aae8a05/README.zh-CN.md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项目源码为实现依据。两篇论文仅为概念相近的扩展阅读，不据此声称本项目实现了 ReAct/Reflexion，也不引用其指标证明本项目效果。</a:t>
            </a:r>
          </a:p>
          <a:p xmlns:a="http://schemas.openxmlformats.org/drawingml/2006/main">
            <a:r>
              <a:t>ReAct: Synergizing Reasoning and Acting in Language Models. ICLR 2023.</a:t>
            </a:r>
          </a:p>
          <a:p xmlns:a="http://schemas.openxmlformats.org/drawingml/2006/main">
            <a:r>
              <a:t>Reflexion: Language Agents with Verbal Reinforcement Learning. 2023.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https://github.com/chao-shu/CCE_SKILL/blob/72662e7fe4adfd3cbf378486b2eebc5c5aae8a05/README.zh-CN.md</a:t>
            </a:r>
          </a:p>
          <a:p xmlns:a="http://schemas.openxmlformats.org/drawingml/2006/main">
            <a:r>
              <a:t>https://arxiv.org/abs/2210.03629</a:t>
            </a:r>
          </a:p>
          <a:p xmlns:a="http://schemas.openxmlformats.org/drawingml/2006/main">
            <a:r>
              <a:t>https://arxiv.org/abs/2303.11366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5135ea0ca547a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98f06e297d4a38" /><Relationship Type="http://schemas.openxmlformats.org/officeDocument/2006/relationships/slideLayout" Target="/ppt/slideLayouts/slideLayout1.xml" Id="Rb2860b2d1ea547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860b2d1ea547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e85569a18c44a1" /><Relationship Type="http://schemas.openxmlformats.org/officeDocument/2006/relationships/notesSlide" Target="/ppt/notesSlides/notesSlide1.xml" Id="Re5882078589242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5d252405e840c8" /><Relationship Type="http://schemas.openxmlformats.org/officeDocument/2006/relationships/notesSlide" Target="/ppt/notesSlides/notesSlide2.xml" Id="Rec629cb9c71e4fc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ea60880bd149fb" /><Relationship Type="http://schemas.openxmlformats.org/officeDocument/2006/relationships/notesSlide" Target="/ppt/notesSlides/notesSlide3.xml" Id="R5aee5344c7fd42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26e71c6f8d4848" /><Relationship Type="http://schemas.openxmlformats.org/officeDocument/2006/relationships/notesSlide" Target="/ppt/notesSlides/notesSlide4.xml" Id="R8c3f5f9ec71e47b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49b4140ce9456a" /><Relationship Type="http://schemas.openxmlformats.org/officeDocument/2006/relationships/notesSlide" Target="/ppt/notesSlides/notesSlide5.xml" Id="Rcdb7db0a332049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31b0aa1cc46f5" /><Relationship Type="http://schemas.openxmlformats.org/officeDocument/2006/relationships/notesSlide" Target="/ppt/notesSlides/notesSlide6.xml" Id="R3af494e21db8472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75fed305047fc" /><Relationship Type="http://schemas.openxmlformats.org/officeDocument/2006/relationships/notesSlide" Target="/ppt/notesSlides/notesSlide7.xml" Id="Rb96199424d504bc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9837bf9d8143f4" /><Relationship Type="http://schemas.openxmlformats.org/officeDocument/2006/relationships/notesSlide" Target="/ppt/notesSlides/notesSlide8.xml" Id="Rcdd8c89a99ef45c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e18dee880744b2" /><Relationship Type="http://schemas.openxmlformats.org/officeDocument/2006/relationships/notesSlide" Target="/ppt/notesSlides/notesSlide9.xml" Id="R2fc90d5047dc4b9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017f3afe0f4765" /><Relationship Type="http://schemas.openxmlformats.org/officeDocument/2006/relationships/notesSlide" Target="/ppt/notesSlides/notesSlide10.xml" Id="R7ec72b405c9c4e0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0b91120a364d4c" /><Relationship Type="http://schemas.openxmlformats.org/officeDocument/2006/relationships/notesSlide" Target="/ppt/notesSlides/notesSlide11.xml" Id="Rca0e3de98f02441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2dbdf525904316" /><Relationship Type="http://schemas.openxmlformats.org/officeDocument/2006/relationships/notesSlide" Target="/ppt/notesSlides/notesSlide12.xml" Id="R654b1de11a3049a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422bec17124316" /><Relationship Type="http://schemas.openxmlformats.org/officeDocument/2006/relationships/notesSlide" Target="/ppt/notesSlides/notesSlide13.xml" Id="Rd94cde8caf114eb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67e5e67264bea" /><Relationship Type="http://schemas.openxmlformats.org/officeDocument/2006/relationships/notesSlide" Target="/ppt/notesSlides/notesSlide14.xml" Id="Rce838ab281c648f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4b6ca9706840df" /><Relationship Type="http://schemas.openxmlformats.org/officeDocument/2006/relationships/notesSlide" Target="/ppt/notesSlides/notesSlide15.xml" Id="Rb4c6ed5e15a64da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e2cd795bc84504" /><Relationship Type="http://schemas.openxmlformats.org/officeDocument/2006/relationships/notesSlide" Target="/ppt/notesSlides/notesSlide16.xml" Id="R3d01bb8125f440c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988F87-1AA0-41E5-9797-A6BA70FC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CCE-C WORKFLOW  /  DESIGN 3.2.0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9E9563-16A2-478B-80E0-6982C2DB2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1125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C72DA2-ED8B-4E39-8AE2-CB42C638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960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9B0009-401A-4C5A-A75E-F4A78536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Ascend 310P · DaVinci · CCE-C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AACDED-4818-49CD-9DC2-1B9145EB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3A8A46-6FC9-48AF-8317-77A489173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23975"/>
            <a:ext cx="111252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7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57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Ascend 310P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F3DA2D-E974-4109-B944-8DF48800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0"/>
            <a:ext cx="11125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1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51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CCE-C 算子开发工作流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7A5EF3-4CA4-4ACD-A9D4-6DE1DAD7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0997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从 Python 参考实现，到有证据的算子交付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DC3A77-16FE-4CD5-9379-FB9FE6F9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7677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F9E96B-47B2-4646-B8A5-6643493F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38725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任务拆分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37B971-4D1C-4DDB-A6C4-F1F84148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38725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证据门禁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5161C4-CF4B-47E4-855B-F70B19AE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038725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知识沉淀</a:t>
            </a:r>
          </a:p>
        </p:txBody>
      </p:sp>
    </p:spTree>
    <p:extLst>
      <p:ext uri="{BB962C8B-B14F-4D97-AF65-F5344CB8AC3E}">
        <p14:creationId xmlns:p14="http://schemas.microsoft.com/office/powerpoint/2010/main" val="11143425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C20796-E9DC-4480-A0DB-338B658CF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CCE-C WORKFLOW  /  DESIGN 3.2.0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1F3B9D-9067-4F4B-A614-AB265CA3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1125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生成代码之后，还需要证明它可信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C364FB-7574-4063-AB0E-6D1D38BE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接口适配、正确性和经验复用，是这套工作流需要解决的三个问题。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50F79B-8007-45BC-9A78-3E76079A6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960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E3D50D-7A48-4172-BBB7-7D54B9B9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Ascend 310P · DaVinci · CCE-C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82B3A5-5879-4D17-A058-B8EACDF9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D2DF83-974B-48B9-80A4-253A2855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57450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AB1D4-643C-4D71-A9EA-F70F898B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853D9A-2B75-428E-A41D-EDAB1A06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8612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接口可能不匹配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198D28-C248-4D91-BAE7-460DE281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71925"/>
            <a:ext cx="333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同名接口不代表可用。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需要核对 310P、后端与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当前工具链版本。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D0B387-55EF-46D4-88B0-9571FD0A6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57450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07CBB6-A23F-4FA4-AB93-A54CDE22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6479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E761A1-7A0E-4F98-831B-6DD912C1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28612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正确性需要证明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F29ADA-42C3-471E-86A6-0861ABC01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71925"/>
            <a:ext cx="333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语义、精度、边界条件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都需要实际验证，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不能只靠代码看起来对。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11F79F-2037-4DF0-BFFC-3FBADCBC9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57450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01287E-319C-457A-9DD3-48CE5B14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479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1B8E71-459C-48D4-AE21-0B34693F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8612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经验可能被误用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7D721-6D1D-4A53-AC07-FA86D80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971925"/>
            <a:ext cx="333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一次成功不等于普遍适用。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知识需要来源、范围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和有效性检查。</a:t>
            </a:r>
          </a:p>
        </p:txBody>
      </p:sp>
    </p:spTree>
    <p:extLst>
      <p:ext uri="{BB962C8B-B14F-4D97-AF65-F5344CB8AC3E}">
        <p14:creationId xmlns:p14="http://schemas.microsoft.com/office/powerpoint/2010/main" val="4245273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CF77FE-11FB-43DF-8826-1B4D3E7B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CCE-C WORKFLOW  /  DESIGN 3.2.0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67079E-F74C-4DA9-8CE9-43730420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1125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用分工、证据和受控复用回应风险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1F8F98-0AAA-485C-95F7-DC8C1A18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分工减少遗漏，证据约束结论，知识管理防止错误经验反复传播。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DF147B-5AB9-427D-8AE6-F708CFFC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960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3D5D47-B887-479D-B2B1-9DDF7E6C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Ascend 310P · DaVinci · CCE-C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55A41B-8020-4379-A224-DE442039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598F57-164C-4D89-9B48-C0A7D255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57450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DB5184-225F-487A-9ADF-63A4E2E48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2308CB-855A-422C-8511-6BD38B6E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8612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小任务，清晰交接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9E650B-67A8-4D84-A4AA-CDA70CE1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71925"/>
            <a:ext cx="333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每个 Skill 负责一个阶段。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通过文件和阶段报告交接，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减少上下文遗漏。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F6F111-D8BF-477D-8AD3-608563AB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57450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F98CD3-47DC-47A6-98D8-27BC2D83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6479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81DC91-9FD8-4672-AB8A-E16A229D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28612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先验证，再推进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8F8724-6062-44E3-8178-489B802E7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71925"/>
            <a:ext cx="333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构建通过后才谈精度；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精度通过后再做性能分析。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缺少条件就明确停下。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3637E1-87B7-4557-8721-9F165C313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57450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664BB4-0ACA-4C17-9424-E484219C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479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D3658B-3114-4FC7-AE7E-F6989727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8612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先筛选，再沉淀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96875C-8F97-47BA-B3B5-AADC593E7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971925"/>
            <a:ext cx="333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独立摄取初始化知识。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后续从真实执行中提炼，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去重后再进入知识库。</a:t>
            </a:r>
          </a:p>
        </p:txBody>
      </p:sp>
    </p:spTree>
    <p:extLst>
      <p:ext uri="{BB962C8B-B14F-4D97-AF65-F5344CB8AC3E}">
        <p14:creationId xmlns:p14="http://schemas.microsoft.com/office/powerpoint/2010/main" val="18829251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7B0102-6B32-4313-B18C-80855226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CCE-C WORKFLOW  /  DESIGN 3.2.0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539C4A-7B34-4FB2-8BE9-99B00232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1125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把设计原则落实为清晰分工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B15D26-ECF6-4F8E-A0A8-82A31C594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总控负责推进与检查，阶段 Skill 负责产物，独立摄取负责知识初始化。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FAE9DF-31F6-4F78-9482-A805A63AD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960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461331-DF71-414C-9736-33393A95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Ascend 310P · DaVinci · CCE-C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F97D77-BC7D-477E-B70E-95CBB535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CD766C-F6AE-4144-9B03-C713AEFA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1112520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1F6C84-C62C-4C45-A5D9-514AC8B8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956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1E9917-4F56-4452-B74F-185303A7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2209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角色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970D01-9ED9-487C-80C2-D650F502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28875"/>
            <a:ext cx="3733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主要职责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303C5A-376B-46F6-81AC-0EFDE4477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28875"/>
            <a:ext cx="438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不负责什么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6800E9-5D48-4B56-9E60-D03F0616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243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4268E6-1430-4D23-AAEE-1CCCAA78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209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1 个总控 Skill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AFEBA2-0D26-4665-B1BE-58B1DBE7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57550"/>
            <a:ext cx="3733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编排阶段、检查门禁、维护状态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619DD9-7151-47B4-A860-4E88F48FA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57550"/>
            <a:ext cx="438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不替代编译器或硬件测试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E5B433-B36D-4BB7-93F7-1E0E94D07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5297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240D2D-06A4-4238-9D03-EF11B72DD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86225"/>
            <a:ext cx="2209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14 个阶段 Skill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5B57F4-E354-492B-8E75-1748AFDE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86225"/>
            <a:ext cx="3733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分析、开发、验证、优化与维护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40AD94-579D-4B4D-B433-D1188814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86225"/>
            <a:ext cx="438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不跳过前置条件自报成功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E1788E-3787-4432-8721-7E68221E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0F5F29-4319-4FB5-BB15-E172B7712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14900"/>
            <a:ext cx="2209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1 个独立摄取 Skill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0BE727-FEB0-40F0-8438-B5096CDE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14900"/>
            <a:ext cx="3733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从正确算子和 PDF 初始化知识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69C534-42E1-4654-9431-6ACF7A00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914900"/>
            <a:ext cx="438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不由总控自动调用</a:t>
            </a:r>
          </a:p>
        </p:txBody>
      </p:sp>
    </p:spTree>
    <p:extLst>
      <p:ext uri="{BB962C8B-B14F-4D97-AF65-F5344CB8AC3E}">
        <p14:creationId xmlns:p14="http://schemas.microsoft.com/office/powerpoint/2010/main" val="7066914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21E2D5-51CA-4165-8747-B922BD4A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CCE-C WORKFLOW  /  DESIGN 3.2.0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E535F6-B938-464C-ADA9-151CF26BB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1125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主流程：先做对，再做快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8B5977-2BD7-4D48-8495-D7A740ED3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角色确定后，用阶段产物串起开发全过程；下一页以简单算子说明。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B1BE96-0A47-4DC5-A4F7-E74E13F0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960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B7656B-4F74-4FE5-B5AC-3CDE29CD9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Ascend 310P · DaVinci · CCE-C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A3C707-D59B-4141-9AC0-6044A009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636244-182D-477F-A5B0-DAFE7E7B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95525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548C93-EFB2-4872-9921-668315BF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57450"/>
            <a:ext cx="352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2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01  明确输入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A1F295-76D0-4C8B-8702-2D208898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38475"/>
            <a:ext cx="3524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环境探测 · 工程调查</a:t>
            </a:r>
          </a:p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语义分析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2EBC31-F5DF-4866-B249-F9565754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95525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352B74-1F13-45DC-8CF2-C48965D4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57450"/>
            <a:ext cx="352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2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02  准备依据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414E5B-D7FC-48EF-9097-F88ABD61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38475"/>
            <a:ext cx="3524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知识检索 · 用例生成</a:t>
            </a:r>
          </a:p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DaVinci 设计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B00B7D-B63B-4680-B6AA-33C30377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95525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B72A2E-DFCE-4588-A20E-08FE550D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57450"/>
            <a:ext cx="352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2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03  建立基线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92912E-22A9-4BB8-9E9B-9B1FC20F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38475"/>
            <a:ext cx="3524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代码生成 · 构建调试</a:t>
            </a:r>
          </a:p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精度验证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2D2BCB-67CC-4CEA-848A-16E1DA689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48125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680255-5394-4D0E-9EEC-BD15D4CB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352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2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04  性能迭代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0BF03A-D529-4446-98CF-1BE6A987F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91075"/>
            <a:ext cx="3524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性能分析 · 优化</a:t>
            </a:r>
          </a:p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每轮重新验证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98C3DC-1E85-4305-95A1-6438BEA3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048125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307BA1-039C-427F-B7C2-604BF75D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210050"/>
            <a:ext cx="352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2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05  交付审计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618004-40C0-48C4-A240-56A6F8BE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791075"/>
            <a:ext cx="3524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回归测试</a:t>
            </a:r>
          </a:p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发布审计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C39ABE-0B00-4355-897E-AA2802F84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048125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F75EC3-9FD9-41BD-9DEB-EB13B19C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10050"/>
            <a:ext cx="352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2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06  知识维护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75BDB5-10EE-425C-9D5E-9833C87D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91075"/>
            <a:ext cx="3524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kb-curation</a:t>
            </a:r>
          </a:p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收尾沉淀有效经验</a:t>
            </a:r>
          </a:p>
        </p:txBody>
      </p:sp>
    </p:spTree>
    <p:extLst>
      <p:ext uri="{BB962C8B-B14F-4D97-AF65-F5344CB8AC3E}">
        <p14:creationId xmlns:p14="http://schemas.microsoft.com/office/powerpoint/2010/main" val="9414253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A5AE0C-0E3C-43EC-86CC-2C0E9236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CCE-C WORKFLOW  /  DESIGN 3.2.0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D73B70-5BC4-4283-8932-E8D2935B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1125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用一个简单算子贯穿后续流程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7EC5C4-C61E-4363-ADB2-AEF51932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示意任务 y = x × x + 1：先明确语义，再回答“怎样才算真正完成”。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6C36C3-B833-44EE-B5D5-1D9C6CFA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960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42E7E8-DEA5-42E4-ADE7-C66F8000A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Ascend 310P · DaVinci · CCE-C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853F3D-0D72-4E45-8859-EEE8BD7C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C6681C-399D-454B-B717-93887CD1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0275"/>
            <a:ext cx="11125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147A7F-4EC4-4B5F-9772-790AA97A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051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44948D-ACE0-47C1-A9CC-A3E243BF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20669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阶段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B5A524-C6D2-4E5F-9388-CDB736A7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362200"/>
            <a:ext cx="4429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需要明确的问题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658AD6-9E03-4BAE-A08F-4EEC50880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362200"/>
            <a:ext cx="3829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应看到的产物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F715E9-DC2D-402E-B915-08C1E2EE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0997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1F9571-6E91-4B16-B3E9-D164A893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20669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输入与语义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DF64C5-4649-476E-8F14-0743CDCB9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67050"/>
            <a:ext cx="4429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dtype、shape、误差与尾部边界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20E5F4-BC86-4C6F-8CBD-04B9B675F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067050"/>
            <a:ext cx="3829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语义说明与测试计划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72B29F-8C88-4B8D-9F42-95EECC9A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148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5BF557-CBF0-48D2-92CC-6BB2FA4D1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0669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设计与开发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970FD5-692C-4F75-AB88-DD2132324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71900"/>
            <a:ext cx="4429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分块、数据搬运、计算与同步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282569-9C38-4A68-9A79-9E93AB5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771900"/>
            <a:ext cx="3829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有依据的设计与 .cce 源码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5BF55F-0583-4274-A419-127335CF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967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133F21-856F-486D-B07C-62401FDC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20669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验证与优化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043815-B735-4A3A-96DC-C7878E17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76750"/>
            <a:ext cx="4429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本轮能构建？精度对？有提速？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799503-5A39-42D1-B2E0-08463AF5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476750"/>
            <a:ext cx="3829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本轮构建、精度、性能记录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30E840-2C65-49E7-B903-8A95E8A32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245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3329F1-CE4B-4878-A620-EE521212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81600"/>
            <a:ext cx="20669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审计与维护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089A45-8F1B-4749-99C1-5CA7CAF4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181600"/>
            <a:ext cx="4429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交付范围？哪些经验可复用？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30FFD1-398A-4541-99B3-393485A4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181600"/>
            <a:ext cx="3829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发布报告与去重后的知识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36B5E9-771C-4818-AB6F-86FEDC99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38825"/>
            <a:ext cx="1112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此例未实际运行；下面说明验证与回滚规则，不展示虚构性能结果。</a:t>
            </a:r>
          </a:p>
        </p:txBody>
      </p:sp>
    </p:spTree>
    <p:extLst>
      <p:ext uri="{BB962C8B-B14F-4D97-AF65-F5344CB8AC3E}">
        <p14:creationId xmlns:p14="http://schemas.microsoft.com/office/powerpoint/2010/main" val="208288039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F2FB13-ABD7-4F18-B225-70CEDACC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CCE-C WORKFLOW  /  DESIGN 3.2.0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2A71E-EB55-4420-B80C-D080035D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1125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每一步“通过”都要有本轮证据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105555-58D3-4070-9FF6-FFEFAF1F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对示例算子，先证明能构建、精度正确，再用真实测量评价优化。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71DECE-A200-4AD5-86AD-E04A52DF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960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9F8853-DA05-4BBE-BEFF-D66C7ADD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Ascend 310P · DaVinci · CCE-C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B249A5-EFFA-4749-89CA-2B13B998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B3FF36-D27E-40DB-AD8E-B1D3242C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A12F70-0898-4E3B-809C-83BC499D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38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C0FFAA-91BF-49C8-9992-A0DC6BF9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7657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构建 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F0A061-D040-48BB-BF89-E3A2394BC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62375"/>
            <a:ext cx="333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实际编译命令与日志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对应本轮源码和输出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通过后进入精度验证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DB7F7A-6971-4A65-8BEF-AEEB66F6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47900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4DC747-45FC-4743-A1F2-8E996F5BC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38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A6A932-DB49-41BF-8FCB-C1971714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7657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精度 ACCURACY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CBD90A-07CB-407C-B817-482D253A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762375"/>
            <a:ext cx="333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真实用例、误差和结果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对应当前构建版本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通过后才评估性能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384C6F-22BC-41E1-A2BD-A5320389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47900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317D7E-E504-4564-8791-13FA8A98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38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0267E6-EFA4-40E8-B4F9-3A845F31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7657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性能 PROFILE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AF2E34-C197-4D7E-8C68-EA4D619D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62375"/>
            <a:ext cx="333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真实测量与对比条件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记录数据，不编造提速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形成保留或回退依据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027DA4-2718-49B1-8495-2C67AB5B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24525"/>
            <a:ext cx="11125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注意：哈希证明文件是否变化，不证明日志内容或结论本身真实。</a:t>
            </a:r>
          </a:p>
        </p:txBody>
      </p:sp>
    </p:spTree>
    <p:extLst>
      <p:ext uri="{BB962C8B-B14F-4D97-AF65-F5344CB8AC3E}">
        <p14:creationId xmlns:p14="http://schemas.microsoft.com/office/powerpoint/2010/main" val="21262025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21C289-8B6B-4FCF-9D60-5EA2C784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CCE-C WORKFLOW  /  DESIGN 3.2.0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29A047-924C-4827-B079-974FEDE59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1125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优化不达标，就恢复已验证版本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BEE63D-C008-4036-8A13-AF4BFDB7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即使只是调整示例算子的分块，也要重跑验证，不能沿用旧结果。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700871-659C-4B04-AE3E-6A5D2F83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960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2656C-1EE3-4238-A80A-783E3095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Ascend 310P · DaVinci · CCE-C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8B64DD-663D-49A5-8AF0-FD2B96D30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EC2F21-7783-48AB-A19D-7F139A3FD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一次优化的完整闭环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455082-2DDD-4662-B259-8233B34A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95625"/>
            <a:ext cx="5457825" cy="2257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1. 保存已接受版本的明确文件清单</a:t>
            </a:r>
          </a:p>
          <a:p xmlns:a="http://schemas.openxmlformats.org/drawingml/2006/main">
            <a:pPr>
              <a:buNone/>
              <a:def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2. 生成候选，并保存候选证据</a:t>
            </a:r>
          </a:p>
          <a:p xmlns:a="http://schemas.openxmlformats.org/drawingml/2006/main">
            <a:pPr>
              <a:buNone/>
              <a:def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3. 重跑构建、精度与性能对比</a:t>
            </a:r>
          </a:p>
          <a:p xmlns:a="http://schemas.openxmlformats.org/drawingml/2006/main">
            <a:pPr>
              <a:buNone/>
              <a:def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4. KEEP 保留，或 REVERT 恢复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A88D49-04A1-42F1-B11C-BCBE149E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305050"/>
            <a:ext cx="49720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D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62DAA8-F421-4B5F-BE48-884638E4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71750"/>
            <a:ext cx="4476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2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回退恢复的是一组对应关系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574BC3-1D03-459F-854E-4CFF8B30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76625"/>
            <a:ext cx="4476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32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源码  +  设计  +  验证报告</a:t>
            </a:r>
          </a:p>
          <a:p xmlns:a="http://schemas.openxmlformats.org/drawingml/2006/main">
            <a:pPr>
              <a:buNone/>
              <a:defRPr sz="232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32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+ 清单内日志 / 二进制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597E96-7F2F-495D-9A9F-20FACFE2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838700"/>
            <a:ext cx="4476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恢复后检查哈希；保留失败候选证据。</a:t>
            </a:r>
          </a:p>
        </p:txBody>
      </p:sp>
    </p:spTree>
    <p:extLst>
      <p:ext uri="{BB962C8B-B14F-4D97-AF65-F5344CB8AC3E}">
        <p14:creationId xmlns:p14="http://schemas.microsoft.com/office/powerpoint/2010/main" val="15522905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65A959-33CA-4395-AB95-75C85D7F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CCE-C WORKFLOW  /  DESIGN 3.2.0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54D030-7F91-4ED6-BC99-A4D02440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1125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任务收尾后，让有效经验服务下一次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694EF5-F8BB-49AD-9B0B-9D49DE69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执行闭环解决本次交付；知识闭环负责复用，但初始化必须独立进行。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525510-D2F6-4A72-AC5B-2BF2B936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960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F85B6E-A700-41B7-BD20-5FF1EBF0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Ascend 310P · DaVinci · CCE-C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09F7A4-E054-4E9C-AB2A-39199CF0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246989-B306-4E84-8AFA-E45A3927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3333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5F1C11-AC19-4188-814E-3B7B8432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首次独立调用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F61F89-DD9F-414C-97D6-4E493FD2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9925"/>
            <a:ext cx="287655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正确算子目录 / PDF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↓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kb-ingestion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↓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候选筛选与初始化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36AF0E-EF60-485E-88EA-52E98E03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5814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330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4CBB38-53BA-4B90-89CB-F336CBD43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05150"/>
            <a:ext cx="2190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FFF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31010E-91A3-4177-8DFE-66DE1F4E8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14700"/>
            <a:ext cx="190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10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knowledge/</a:t>
            </a:r>
          </a:p>
          <a:p xmlns:a="http://schemas.openxmlformats.org/drawingml/2006/main">
            <a:pPr>
              <a:buNone/>
              <a:defRPr sz="210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10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可追溯知识卡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A1F64C-81A8-4655-AB18-323388B8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305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330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133A23-3D58-4739-8B26-73D6714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3148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330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B2CCA3-1226-4E48-B2A3-3D12F673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962275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6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读取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2391F8-B2FB-477F-8E48-3F543405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867275"/>
            <a:ext cx="66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6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更新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FBFBED-7E0F-4C36-95C6-DD0CC4E54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05050"/>
            <a:ext cx="332422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D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8676F5-72A5-492D-9F33-AE8727797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5336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日常算子任务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33AA15-9667-43D9-A80F-D9AFDE5D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09925"/>
            <a:ext cx="2857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检索适用知识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↓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开发与验证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↓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kb-curation 去重维护</a:t>
            </a:r>
          </a:p>
        </p:txBody>
      </p:sp>
    </p:spTree>
    <p:extLst>
      <p:ext uri="{BB962C8B-B14F-4D97-AF65-F5344CB8AC3E}">
        <p14:creationId xmlns:p14="http://schemas.microsoft.com/office/powerpoint/2010/main" val="3010570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6282FB-5B83-4D55-8323-1E5919A4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CCE-C WORKFLOW  /  DESIGN 3.2.0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63CF90-1943-4DD6-B6F3-A0CBCF8A8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1125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初始知识从哪里来：正确算子与文档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FF0819-CE06-4D2D-934A-0F18A2D17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独立摄取不是整篇复制，而是提取有来源、有适用范围的事实。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E8FA05-650F-4597-9B82-738DD078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960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85C2E4-DAFE-4696-B98A-8E4E091C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Ascend 310P · DaVinci · CCE-C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256395-413E-443D-A98A-A499DFFE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49D7E7-52EE-47E1-9AFF-D77B20CA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90775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5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已有正确算子目录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4BBBE-198B-486C-8138-46739F54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33725"/>
            <a:ext cx="52006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提取：接口用法、约束、实现模式</a:t>
            </a:r>
          </a:p>
          <a:p xmlns:a="http://schemas.openxmlformats.org/drawingml/2006/main">
            <a:pPr>
              <a:buNone/>
              <a:def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保留：源码位置、构建命令、版本</a:t>
            </a:r>
          </a:p>
          <a:p xmlns:a="http://schemas.openxmlformats.org/drawingml/2006/main">
            <a:pPr>
              <a:buNone/>
              <a:def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核对：精度结果与真实运行记录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AB3751-0701-4D3F-A74C-D038B3CBF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390775"/>
            <a:ext cx="5219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5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接口文档 PDF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B00B3F-807D-4F4B-9982-6F2BFDF9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33725"/>
            <a:ext cx="521970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提取：签名、参数含义、适用条件</a:t>
            </a:r>
          </a:p>
          <a:p xmlns:a="http://schemas.openxmlformats.org/drawingml/2006/main">
            <a:pPr>
              <a:buNone/>
              <a:def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保留：文档版本、页码、产品范围</a:t>
            </a:r>
          </a:p>
          <a:p xmlns:a="http://schemas.openxmlformats.org/drawingml/2006/main">
            <a:pPr>
              <a:buNone/>
              <a:def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0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核对：是否适用于当前 310P 环境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976713-F01C-4E22-955B-59D1783E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9587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25A89-01B7-412B-B318-F3FA0777B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00675"/>
            <a:ext cx="11125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10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证据不足或来源冲突 → 保留候选 / 隔离，不作为代码生成依据。</a:t>
            </a:r>
          </a:p>
        </p:txBody>
      </p:sp>
    </p:spTree>
    <p:extLst>
      <p:ext uri="{BB962C8B-B14F-4D97-AF65-F5344CB8AC3E}">
        <p14:creationId xmlns:p14="http://schemas.microsoft.com/office/powerpoint/2010/main" val="16505115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8B6E6F-421C-4325-AE45-DC6C8364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CCE-C WORKFLOW  /  DESIGN 3.2.0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84018A-3AC5-4A90-B4C7-6AC063366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1125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知识进入库之前，先判断是否值得保留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8D173A-A241-4A96-B0B5-73BFD271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初始化与后续 curation 都执行同一套去重决策，控制冗余与冲突。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F89428-9522-4A18-A43F-AB7D0CBC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960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66E5E5-C7B6-4C0A-8CBE-46C36324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Ascend 310P · DaVinci · CCE-C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018BEF-285E-46CA-9EEE-9B64C400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D68A83-FA1F-4B6C-B076-3A674D7A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90750"/>
            <a:ext cx="11125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65CC82-CC00-4D3E-BFAC-A6130F6E5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01101-E805-4980-B22C-5F0E53ACF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5267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决定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9FE4D3-0533-4076-9B03-7CD5ACA32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352675"/>
            <a:ext cx="4019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什么时候用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B8A171-53E8-47B4-8309-CA0AF7550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352675"/>
            <a:ext cx="3924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结果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D99070-F45D-4C91-BE87-1C6CA187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2591DE-F26D-4F7A-94F0-ECB194EE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1942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SKIP / 跳过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4EFC31-7B5D-4269-96D4-65EB9DC3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019425"/>
            <a:ext cx="4019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已有知识覆盖，无新增价值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A8F4A7-5A70-4471-B72B-B50B72D5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019425"/>
            <a:ext cx="3924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不新增卡片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C36328-DFCC-4081-A97C-E40E99528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5222EA-A812-44DD-903F-71BCDABF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8617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MERGE / 合并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7DDE04-901B-4083-8FE4-9609C0E3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686175"/>
            <a:ext cx="4019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同一范围，补充证据或修正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92DCD9-CB09-4895-AD68-7304E3D82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686175"/>
            <a:ext cx="3924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更新原卡，保留 ID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B92406-E23B-445E-A613-EE5B7955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C99237-387B-462C-B79B-47C4CC9C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5292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ADD / 新增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ECF87B-4A0A-4269-9D39-240761A8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352925"/>
            <a:ext cx="4019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新事实，或需区分版本与条件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966E30-484E-4269-AB04-6E051C77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352925"/>
            <a:ext cx="3924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建立独立知识卡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846F1D-E58D-4E44-B18A-CB7BDD66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12D149-CD93-438F-B2FE-CD64C6553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967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QUARANTINE / 隔离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4A19FF-3E67-43A9-8012-40C65613C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019675"/>
            <a:ext cx="4019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证据不足或内容冲突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E5DEB3-B078-43E6-890E-C3ABA836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19675"/>
            <a:ext cx="3924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不进入代码生成依据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3A0FD0-7F8A-4CEB-9163-25D19DCD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95950"/>
            <a:ext cx="1112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同一结论换种说法不应新增：工具拦截完全重复，近义表达由 Agent 判断。</a:t>
            </a:r>
          </a:p>
        </p:txBody>
      </p:sp>
    </p:spTree>
    <p:extLst>
      <p:ext uri="{BB962C8B-B14F-4D97-AF65-F5344CB8AC3E}">
        <p14:creationId xmlns:p14="http://schemas.microsoft.com/office/powerpoint/2010/main" val="13961237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849B59-735E-4A67-A1B2-F65F189F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CCE-C WORKFLOW  /  DESIGN 3.2.0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0D2055-0B92-4664-82B9-1FD80B6F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1125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把这套流程放进你的算子工程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2836FC-0E75-483F-9A38-827AE18D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理解执行与知识两个闭环后，实际使用分为安装、独立初始化和日常调用。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16CF20-53E3-4298-B5BA-372F0A16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960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66BF7E-4961-4CC5-9014-134692E0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Ascend 310P · DaVinci · CCE-C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2E55CE-B2CA-4E3D-9218-7B9D652E1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9FE985-180E-4E3C-9038-47A86AE69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BB1DA0-DF0F-433B-A5CB-27CA7F69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38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961178-4B45-4B98-9F49-5D40EAB1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7657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安装与自检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AC7A31-4174-43E7-9C16-A9F579A1C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62375"/>
            <a:ext cx="333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合并包内 skills、tools、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contracts、knowledge。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保留原有工程规则与知识。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执行 self_check.py。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26CC26-A86A-4FE0-B78C-8E63C35F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47900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BEF882-9537-4CE2-8D15-93F0F1D7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38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DD9A1D-7D7C-470D-A6E9-943A279C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7657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独立初始化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1C7C4C-7BFA-4F08-A4FD-AC8DCCEB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762375"/>
            <a:ext cx="333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提供正确算子和 / 或 PDF。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单独调用 kb-ingestion。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检查候选、证据与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去重处理报告。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8D0A9F-690E-446D-820B-0AEA2C33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47900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0DC6C6-5FBE-4B31-BFFC-BF1AAF18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38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4E08A6-F3F1-4F9B-A80A-522ABB4AA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7657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日常执行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E23B5A-9D4B-4F24-9604-D1765D58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62375"/>
            <a:ext cx="333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给出主 Skill 地址、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Python 参考与目标目录。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总控完成阶段编排，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最后审计并维护知识。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E31B47-FFD4-4191-8C43-BD27D1EF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24525"/>
            <a:ext cx="11125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72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Agent 需要支持 Skill、命令执行与 subagent；工具链和 310P 环境需另行具备。</a:t>
            </a:r>
          </a:p>
        </p:txBody>
      </p:sp>
    </p:spTree>
    <p:extLst>
      <p:ext uri="{BB962C8B-B14F-4D97-AF65-F5344CB8AC3E}">
        <p14:creationId xmlns:p14="http://schemas.microsoft.com/office/powerpoint/2010/main" val="91005955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8007C7-F3DA-4A0E-AF1A-74268B48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CCE-C WORKFLOW  /  DESIGN 3.2.0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24310-02A0-4DB2-BFF7-6C29BA4D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1125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任务结束后，按产物与证据验收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724016-6667-4A21-B3F4-62A6653F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代码和用例遵循工程布局；运行记录集中保存，先看发布报告判断完成范围。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00CFD-98F8-485B-A213-D50D5900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960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2E00E5-1E57-4CF4-ADA9-A0135481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Ascend 310P · DaVinci · CCE-C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6D4D4E-7274-432E-957B-BDC8278B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5317E8-1555-4F22-8145-CFF086EAC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0"/>
            <a:ext cx="11125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DE8A17-0781-4919-8079-5EE7D7CF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0515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CBCE0B-3678-4CE6-80EA-C9DAB0A40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产物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9EC493-485C-413F-8864-3334CC377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447925"/>
            <a:ext cx="4019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位置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419597-E4B8-4379-B72E-0E0D1D12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447925"/>
            <a:ext cx="3924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用途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C51701-8A8B-487B-A6F1-C13DDD79A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243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D5F022-0919-482C-ACBB-C55ED540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67075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算子源码 / 测试用例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8E16E9-D0EA-4ED5-9375-F10E081E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67075"/>
            <a:ext cx="4019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工程对应的算子目录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336FEC-39CA-4670-912B-D33476179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267075"/>
            <a:ext cx="3924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用于构建、注册和执行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B171F3-711C-40BA-8168-94FB2DE2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4345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6639CA-CC39-4D06-99CC-A8BA5602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86225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报告 / 日志 / 优化记录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FB5E47-8B97-4459-9E9B-20B49856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86225"/>
            <a:ext cx="4019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.operator-agent/runs/&lt;run_id&gt;/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36A4C2-360A-4143-A9CD-BEA7142D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086225"/>
            <a:ext cx="3924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本次任务证据与执行状态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D66B82-B817-460B-BC98-BF15B9D32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626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9679EB-BDF9-4B7B-B361-A8EA5E3F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05375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知识卡 / 检索索引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F8F3A4-D798-41DF-B3B6-E6180011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905375"/>
            <a:ext cx="4019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knowledge/ 与 kb.sqlite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24F750-A656-427E-9D9D-FD422EF9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905375"/>
            <a:ext cx="3924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长期知识与可重建索引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109445-0E72-4502-ADB6-CF008774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81675"/>
            <a:ext cx="11125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先看 release_report.json：PASS、FAIL、BLOCKED、NOT_RUN 各有明确含义。</a:t>
            </a:r>
          </a:p>
        </p:txBody>
      </p:sp>
    </p:spTree>
    <p:extLst>
      <p:ext uri="{BB962C8B-B14F-4D97-AF65-F5344CB8AC3E}">
        <p14:creationId xmlns:p14="http://schemas.microsoft.com/office/powerpoint/2010/main" val="23615994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219FBE-9F14-4798-8B3F-624BE1B2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CCE-C WORKFLOW  /  DESIGN 3.2.0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243A7D-EBAF-4B88-B656-F3B1C403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1125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当前版本强化了控制，但尚待板端验收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ACEDB8-DE63-49CB-92E0-B8F65991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3.2.0 已完成离线检查；这些结果不能替代真实算子的编译、精度与性能验证。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4C9373-D2B8-4D74-B60A-C3118A52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960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6A0C10-AAAB-4CFB-9984-F0F8BEC9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Ascend 310P · DaVinci · CCE-C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11E88E-41E1-4D1A-8BD3-96B6F973B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3639F4-E397-44E2-8224-F1BEE564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33625"/>
            <a:ext cx="53054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本版强化的四个环节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65D29D-4CC3-4AE4-8CC8-973869AF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24200"/>
            <a:ext cx="5334000" cy="2200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1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报告绑定真实文件与本次运行</a:t>
            </a:r>
          </a:p>
          <a:p xmlns:a="http://schemas.openxmlformats.org/drawingml/2006/main">
            <a:pPr>
              <a:buNone/>
              <a:defRPr sz="21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1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去重检查跨 ID 的重复事实</a:t>
            </a:r>
          </a:p>
          <a:p xmlns:a="http://schemas.openxmlformats.org/drawingml/2006/main">
            <a:pPr>
              <a:buNone/>
              <a:defRPr sz="21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1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生产检索要求具体环境版本</a:t>
            </a:r>
          </a:p>
          <a:p xmlns:a="http://schemas.openxmlformats.org/drawingml/2006/main">
            <a:pPr>
              <a:buNone/>
              <a:defRPr sz="21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1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优化回退保持代码与证据一致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86DB56-84B8-41FA-9A59-615C7E31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305050"/>
            <a:ext cx="5076825" cy="3324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D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1A7060-7E38-4FAC-85E8-CDA346CF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562225"/>
            <a:ext cx="45624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已完成离线检查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A91996-2654-4A93-9948-344BDC25F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276600"/>
            <a:ext cx="45339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1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16 个 Skill 格式校验</a:t>
            </a:r>
          </a:p>
          <a:p xmlns:a="http://schemas.openxmlformats.org/drawingml/2006/main">
            <a:pPr>
              <a:buNone/>
              <a:defRPr sz="21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175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11 项行为测试与包自检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1C0B5A-A63B-46EB-B993-99AE99742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438650"/>
            <a:ext cx="45339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460A04-F706-4626-B297-D819D0767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695825"/>
            <a:ext cx="45339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尚未完成真实 310P 编译与板端运行。</a:t>
            </a:r>
          </a:p>
          <a:p xmlns:a="http://schemas.openxmlformats.org/drawingml/2006/main">
            <a:pPr>
              <a:buNone/>
              <a:def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未提供真实性能提升数据。</a:t>
            </a:r>
          </a:p>
        </p:txBody>
      </p:sp>
    </p:spTree>
    <p:extLst>
      <p:ext uri="{BB962C8B-B14F-4D97-AF65-F5344CB8AC3E}">
        <p14:creationId xmlns:p14="http://schemas.microsoft.com/office/powerpoint/2010/main" val="185807442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3962AF-62A5-495B-857E-D564B5075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CCE-C WORKFLOW  /  DESIGN 3.2.0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426058-449E-4FA4-9B91-BA03A643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1125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下一步：用真实算子证明闭环可用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8207E0-4C6E-42E7-B779-21DAF8085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回到最初目标：不仅生成代码，还要交付可核查结果，并留下可复用经验。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9796E9-5FEE-4E7C-B710-30EED3A4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960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3EA4D9-6893-4DC6-A882-5F6ECCC6A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Ascend 310P · DaVinci · CCE-C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AFD016-4527-4337-B24B-BF9CD32D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CFEC14-F8D8-45F7-B4F2-BECC3599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ECB308-78FB-475E-8ED9-C651744AE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574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DB52B9-CBF7-4F41-84FE-1703959A1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9562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准备真实输入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3B0817-D419-48AB-900B-CA663345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81425"/>
            <a:ext cx="333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固定 310P 与工具链版本。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选择一个已知正确算子，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提供 Python 参考与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现有构建 / 测试方式。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F09D89-B267-4CD5-883E-BC3B8ADD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66950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EDFE54-E791-4B30-A066-E5C2402F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574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3B79FD-C817-4497-AC74-77E57557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9562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跑通最小闭环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52AE30-EE11-4698-AAAA-9526C6461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781425"/>
            <a:ext cx="333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独立摄取初始知识。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执行主流程到发布审计。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检查构建、精度、性能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是否都有真实记录。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FE1F0C-362A-4563-8577-F08ACF23D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66950"/>
            <a:ext cx="33337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5AA940-E797-4242-86B2-CD4142C4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574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550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2FBC01-367D-4125-A4E9-664C69FE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9562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4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检查可持续性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8D9262-E8F9-4A73-A244-0912B825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81425"/>
            <a:ext cx="333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故意触发一次失败回滚。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验证代码与报告一致。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再次运行 curation，</a:t>
            </a:r>
          </a:p>
          <a:p xmlns:a="http://schemas.openxmlformats.org/drawingml/2006/main">
            <a:pPr>
              <a:buNone/>
              <a:def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9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确认没有无价值重复。</a:t>
            </a:r>
          </a:p>
        </p:txBody>
      </p:sp>
    </p:spTree>
    <p:extLst>
      <p:ext uri="{BB962C8B-B14F-4D97-AF65-F5344CB8AC3E}">
        <p14:creationId xmlns:p14="http://schemas.microsoft.com/office/powerpoint/2010/main" val="198857040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ECA382-2A69-442F-9462-39267E56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75" b="1">
                <a:solidFill>
                  <a:srgbClr val="286CE2"/>
                </a:solidFill>
                <a:latin typeface="WenQuanYi Zen Hei"/>
                <a:ea typeface="WenQuanYi Zen Hei"/>
                <a:cs typeface="WenQuanYi Zen Hei"/>
              </a:rPr>
              <a:t>CCE-C WORKFLOW  /  DESIGN 3.2.0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43AFD8-52D9-469B-967C-9C5FF79F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1125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360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附录：实现依据与相关研究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679A6C-10CE-403A-9A35-485E1798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33525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项目契约支撑实现说明；相关论文用于扩展阅读，不作为本项目效果证明。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E3768E-93CA-45E7-AB26-7A63DEB1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9602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AD4377-5AAD-4CEF-944E-FF596028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20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Ascend 310P · DaVinci · CCE-C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321D4A-F431-42B7-A592-48C86CBB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00800"/>
            <a:ext cx="47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350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085DEB-0746-4541-AC73-C2CFFB4F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76475"/>
            <a:ext cx="11125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2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01  项目实现依据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14889E-B3F3-4C97-9C5A-56F9B799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38450"/>
            <a:ext cx="111252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CCE_SKILL 3.2.0：中文使用说明、Skill 与 contracts</a:t>
            </a:r>
          </a:p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固定版本：72662e7 · github.com/chao-shu/CCE_SKILL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92EFFB-12BD-4757-B587-43045BE3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62375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5DAE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87B1CF-02A7-48DB-96E3-26F8AECB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909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2250" b="1">
                <a:solidFill>
                  <a:srgbClr val="111318"/>
                </a:solidFill>
                <a:latin typeface="WenQuanYi Zen Hei"/>
                <a:ea typeface="WenQuanYi Zen Hei"/>
                <a:cs typeface="WenQuanYi Zen Hei"/>
              </a:rPr>
              <a:t>02  相关研究，不等于本项目采用其算法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940FC9-3FA3-40E8-AAE0-282F53B3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10100"/>
            <a:ext cx="111252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ReAct · Yao et al., 2023：交替推理与行动 · arXiv:2210.03629</a:t>
            </a:r>
          </a:p>
          <a:p xmlns:a="http://schemas.openxmlformats.org/drawingml/2006/main">
            <a:pPr>
              <a:buNone/>
              <a:def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defRPr>
            </a:pPr>
            <a:r>
              <a:rPr sz="1875" b="0">
                <a:solidFill>
                  <a:srgbClr val="596371"/>
                </a:solidFill>
                <a:latin typeface="WenQuanYi Zen Hei"/>
                <a:ea typeface="WenQuanYi Zen Hei"/>
                <a:cs typeface="WenQuanYi Zen Hei"/>
              </a:rPr>
              <a:t>Reflexion · Shinn et al., 2023：利用反馈与文本记忆 · arXiv:2303.11366</a:t>
            </a:r>
          </a:p>
        </p:txBody>
      </p:sp>
    </p:spTree>
    <p:extLst>
      <p:ext uri="{BB962C8B-B14F-4D97-AF65-F5344CB8AC3E}">
        <p14:creationId xmlns:p14="http://schemas.microsoft.com/office/powerpoint/2010/main" val="15300507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2026-09-05T09:15:23.8170000Z</dcterms:created>
  <dcterms:modified xsi:type="dcterms:W3CDTF">2026-09-05T09:15:23.8170000Z</dcterms:modified>
</coreProperties>
</file>