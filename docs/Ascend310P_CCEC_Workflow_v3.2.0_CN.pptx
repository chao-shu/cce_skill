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5dcd5771a504d90" /><Relationship Type="http://schemas.openxmlformats.org/officeDocument/2006/relationships/extended-properties" Target="/docProps/app.xml" Id="Rd7af465b59964f3b" /><Relationship Type="http://schemas.openxmlformats.org/officeDocument/2006/relationships/officeDocument" Target="/ppt/presentation.xml" Id="R3fdf5f1628724d8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5b91a8cf4e84bdf"/>
  </p:sldMasterIdLst>
  <p:notesMasterIdLst>
    <p:notesMasterId xmlns:r="http://schemas.openxmlformats.org/officeDocument/2006/relationships" r:id="Rf141b68a1e6e4feb"/>
  </p:notesMasterIdLst>
  <p:sldIdLst>
    <p:sldId xmlns:r="http://schemas.openxmlformats.org/officeDocument/2006/relationships" id="256" r:id="Re745e624413c4110"/>
    <p:sldId xmlns:r="http://schemas.openxmlformats.org/officeDocument/2006/relationships" id="257" r:id="Rf3e9fd6c8e324507"/>
    <p:sldId xmlns:r="http://schemas.openxmlformats.org/officeDocument/2006/relationships" id="258" r:id="Rc6c1d204fffc451a"/>
    <p:sldId xmlns:r="http://schemas.openxmlformats.org/officeDocument/2006/relationships" id="259" r:id="R2204223567de4d95"/>
    <p:sldId xmlns:r="http://schemas.openxmlformats.org/officeDocument/2006/relationships" id="260" r:id="R36149d47565e489a"/>
    <p:sldId xmlns:r="http://schemas.openxmlformats.org/officeDocument/2006/relationships" id="261" r:id="R353512db9e504b73"/>
    <p:sldId xmlns:r="http://schemas.openxmlformats.org/officeDocument/2006/relationships" id="262" r:id="R80a8a40d9f794e57"/>
    <p:sldId xmlns:r="http://schemas.openxmlformats.org/officeDocument/2006/relationships" id="263" r:id="Rd7da3c6b0b22457e"/>
    <p:sldId xmlns:r="http://schemas.openxmlformats.org/officeDocument/2006/relationships" id="264" r:id="Rf2f482aff7f947dd"/>
    <p:sldId xmlns:r="http://schemas.openxmlformats.org/officeDocument/2006/relationships" id="265" r:id="R276e9c2caf904291"/>
    <p:sldId xmlns:r="http://schemas.openxmlformats.org/officeDocument/2006/relationships" id="266" r:id="R54c84e0abd23408e"/>
    <p:sldId xmlns:r="http://schemas.openxmlformats.org/officeDocument/2006/relationships" id="267" r:id="R33a2465463274c1f"/>
    <p:sldId xmlns:r="http://schemas.openxmlformats.org/officeDocument/2006/relationships" id="268" r:id="R69eaf85013fe4d57"/>
    <p:sldId xmlns:r="http://schemas.openxmlformats.org/officeDocument/2006/relationships" id="269" r:id="R2318732e3e184400"/>
    <p:sldId xmlns:r="http://schemas.openxmlformats.org/officeDocument/2006/relationships" id="270" r:id="R7f296de554e64d3f"/>
    <p:sldId xmlns:r="http://schemas.openxmlformats.org/officeDocument/2006/relationships" id="271" r:id="R272b768e25cc452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2a922ea853745a1" /><Relationship Type="http://schemas.openxmlformats.org/officeDocument/2006/relationships/slideMaster" Target="/ppt/slideMasters/slideMaster1.xml" Id="R05b91a8cf4e84bdf" /><Relationship Type="http://schemas.openxmlformats.org/officeDocument/2006/relationships/notesMaster" Target="/ppt/notesMasters/notesMaster1.xml" Id="Rf141b68a1e6e4feb" /><Relationship Type="http://schemas.openxmlformats.org/officeDocument/2006/relationships/presProps" Target="/ppt/presProps.xml" Id="R1901500d189745a1" /><Relationship Type="http://schemas.openxmlformats.org/officeDocument/2006/relationships/tableStyles" Target="/ppt/tableStyles.xml" Id="Ra68c549659114475" /><Relationship Type="http://schemas.openxmlformats.org/officeDocument/2006/relationships/slide" Target="/ppt/slides/slide1.xml" Id="Re745e624413c4110" /><Relationship Type="http://schemas.openxmlformats.org/officeDocument/2006/relationships/slide" Target="/ppt/slides/slide2.xml" Id="Rf3e9fd6c8e324507" /><Relationship Type="http://schemas.openxmlformats.org/officeDocument/2006/relationships/slide" Target="/ppt/slides/slide3.xml" Id="Rc6c1d204fffc451a" /><Relationship Type="http://schemas.openxmlformats.org/officeDocument/2006/relationships/slide" Target="/ppt/slides/slide4.xml" Id="R2204223567de4d95" /><Relationship Type="http://schemas.openxmlformats.org/officeDocument/2006/relationships/slide" Target="/ppt/slides/slide5.xml" Id="R36149d47565e489a" /><Relationship Type="http://schemas.openxmlformats.org/officeDocument/2006/relationships/slide" Target="/ppt/slides/slide6.xml" Id="R353512db9e504b73" /><Relationship Type="http://schemas.openxmlformats.org/officeDocument/2006/relationships/slide" Target="/ppt/slides/slide7.xml" Id="R80a8a40d9f794e57" /><Relationship Type="http://schemas.openxmlformats.org/officeDocument/2006/relationships/slide" Target="/ppt/slides/slide8.xml" Id="Rd7da3c6b0b22457e" /><Relationship Type="http://schemas.openxmlformats.org/officeDocument/2006/relationships/slide" Target="/ppt/slides/slide9.xml" Id="Rf2f482aff7f947dd" /><Relationship Type="http://schemas.openxmlformats.org/officeDocument/2006/relationships/slide" Target="/ppt/slides/slide10.xml" Id="R276e9c2caf904291" /><Relationship Type="http://schemas.openxmlformats.org/officeDocument/2006/relationships/slide" Target="/ppt/slides/slide11.xml" Id="R54c84e0abd23408e" /><Relationship Type="http://schemas.openxmlformats.org/officeDocument/2006/relationships/slide" Target="/ppt/slides/slide12.xml" Id="R33a2465463274c1f" /><Relationship Type="http://schemas.openxmlformats.org/officeDocument/2006/relationships/slide" Target="/ppt/slides/slide13.xml" Id="R69eaf85013fe4d57" /><Relationship Type="http://schemas.openxmlformats.org/officeDocument/2006/relationships/slide" Target="/ppt/slides/slide14.xml" Id="R2318732e3e184400" /><Relationship Type="http://schemas.openxmlformats.org/officeDocument/2006/relationships/slide" Target="/ppt/slides/slide15.xml" Id="R7f296de554e64d3f" /><Relationship Type="http://schemas.openxmlformats.org/officeDocument/2006/relationships/slide" Target="/ppt/slides/slide16.xml" Id="R272b768e25cc452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28b793d2f0d43e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37df5c427dd4d93" /><Relationship Type="http://schemas.openxmlformats.org/officeDocument/2006/relationships/notesMaster" Target="/ppt/notesMasters/notesMaster1.xml" Id="Ref1457bb7d364de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66705afb3444c34" /><Relationship Type="http://schemas.openxmlformats.org/officeDocument/2006/relationships/notesMaster" Target="/ppt/notesMasters/notesMaster1.xml" Id="Rb62738a3868449e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08092019985417d" /><Relationship Type="http://schemas.openxmlformats.org/officeDocument/2006/relationships/notesMaster" Target="/ppt/notesMasters/notesMaster1.xml" Id="R2f4ed5cfaba84cd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b78386bb0c24aad" /><Relationship Type="http://schemas.openxmlformats.org/officeDocument/2006/relationships/notesMaster" Target="/ppt/notesMasters/notesMaster1.xml" Id="Rf8578aaef52940f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c4e70a1a3d24eb3" /><Relationship Type="http://schemas.openxmlformats.org/officeDocument/2006/relationships/notesMaster" Target="/ppt/notesMasters/notesMaster1.xml" Id="Rfcb457a906cf4e9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238f175913447be" /><Relationship Type="http://schemas.openxmlformats.org/officeDocument/2006/relationships/notesMaster" Target="/ppt/notesMasters/notesMaster1.xml" Id="R60f4fee0a5f140a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2db4c584d6349b3" /><Relationship Type="http://schemas.openxmlformats.org/officeDocument/2006/relationships/notesMaster" Target="/ppt/notesMasters/notesMaster1.xml" Id="Ra4a6d6fab65e4e6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9edaa702d034470" /><Relationship Type="http://schemas.openxmlformats.org/officeDocument/2006/relationships/notesMaster" Target="/ppt/notesMasters/notesMaster1.xml" Id="R03b22cfeec1141c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2f039cbab504b32" /><Relationship Type="http://schemas.openxmlformats.org/officeDocument/2006/relationships/notesMaster" Target="/ppt/notesMasters/notesMaster1.xml" Id="Ra70bd6a45fb04b7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943f9f71ba0442f" /><Relationship Type="http://schemas.openxmlformats.org/officeDocument/2006/relationships/notesMaster" Target="/ppt/notesMasters/notesMaster1.xml" Id="Rd0fb1a5edbd645a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ab5dea3b110407c" /><Relationship Type="http://schemas.openxmlformats.org/officeDocument/2006/relationships/notesMaster" Target="/ppt/notesMasters/notesMaster1.xml" Id="Rf6b97fab4dc3456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2b38f26b2cc4ead" /><Relationship Type="http://schemas.openxmlformats.org/officeDocument/2006/relationships/notesMaster" Target="/ppt/notesMasters/notesMaster1.xml" Id="Rb20663b97334486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5beac975adb42ac" /><Relationship Type="http://schemas.openxmlformats.org/officeDocument/2006/relationships/notesMaster" Target="/ppt/notesMasters/notesMaster1.xml" Id="R026b929b00fe4e7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72cfd47b57549f4" /><Relationship Type="http://schemas.openxmlformats.org/officeDocument/2006/relationships/notesMaster" Target="/ppt/notesMasters/notesMaster1.xml" Id="R696ceeb763c6462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d85eab0bd544b17" /><Relationship Type="http://schemas.openxmlformats.org/officeDocument/2006/relationships/notesMaster" Target="/ppt/notesMasters/notesMaster1.xml" Id="Re865ed38747d442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8927ac30c9f4d9b" /><Relationship Type="http://schemas.openxmlformats.org/officeDocument/2006/relationships/notesMaster" Target="/ppt/notesMasters/notesMaster1.xml" Id="R8aa1eddb30244f1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设计说明基于仓库 3.2.0，固定提交 72662e7。没有提供或暗示已完成实际 310P 板端验证。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https://github.com/chao-shu/CCE_SKILL/blob/72662e7fe4adfd3cbf378486b2eebc5c5aae8a05/README.zh-CN.md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https://github.com/chao-shu/CCE_SKILL/blob/72662e7fe4adfd3cbf378486b2eebc5c5aae8a05/README.zh-CN.md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https://github.com/chao-shu/CCE_SKILL/blob/72662e7fe4adfd3cbf378486b2eebc5c5aae8a05/README.zh-CN.md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https://github.com/chao-shu/CCE_SKILL/blob/72662e7fe4adfd3cbf378486b2eebc5c5aae8a05/README.zh-CN.md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14 个算子阶段：environment、repo-context、semantic-analysis、kb-retrieval、test-generation、davinci-design、baseline-codegen、build-debug、accuracy-validation、profiling、performance-optimization、regression、release-audit、kb-curation。失败时也应收尾审计并记录有证据的经验，不意味所有失败都会进入后续性能阶段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https://github.com/chao-shu/CCE_SKILL/blob/72662e7fe4adfd3cbf378486b2eebc5c5aae8a05/README.zh-CN.md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图为知识流向，不是无条件自动执行器。摄取由用户主动独立调用；新资料再次摄取也需用户明确要求。知识卡为源文件，SQLite 为可重建检索索引。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https://github.com/chao-shu/CCE_SKILL/blob/72662e7fe4adfd3cbf378486b2eebc5c5aae8a05/README.zh-CN.md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https://github.com/chao-shu/CCE_SKILL/blob/72662e7fe4adfd3cbf378486b2eebc5c5aae8a05/README.zh-CN.md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https://github.com/chao-shu/CCE_SKILL/blob/72662e7fe4adfd3cbf378486b2eebc5c5aae8a05/README.zh-CN.md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https://github.com/chao-shu/CCE_SKILL/blob/72662e7fe4adfd3cbf378486b2eebc5c5aae8a05/README.zh-CN.md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回滚只覆盖显式文件清单，不负责清单外文件或外部板卡状态。候选新增文件在删除前保留快照。详见压缩包内 contracts/OPTIMIZATION_EVIDENCE.md。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https://github.com/chao-shu/CCE_SKILL/blob/72662e7fe4adfd3cbf378486b2eebc5c5aae8a05/README.zh-CN.md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https://github.com/chao-shu/CCE_SKILL/blob/72662e7fe4adfd3cbf378486b2eebc5c5aae8a05/README.zh-CN.md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完整索引路径为 .operator-agent/kb.sqlite；主入口为 .opencode/skills/ascend310p-ccec-operator-orchestrator/SKILL.md，独立入口为 .opencode/skills/ascend310p-ccec-kb-ingestion/SKILL.md。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https://github.com/chao-shu/CCE_SKILL/blob/72662e7fe4adfd3cbf378486b2eebc5c5aae8a05/README.zh-CN.md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https://github.com/chao-shu/CCE_SKILL/blob/72662e7fe4adfd3cbf378486b2eebc5c5aae8a05/README.zh-CN.md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离线检查结果来自此前本项目 3.2.0 修复与打包验证记录。本 PPT 制作没有新增执行 310P 硬件测试。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https://github.com/chao-shu/CCE_SKILL/blob/72662e7fe4adfd3cbf378486b2eebc5c5aae8a05/README.zh-CN.md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项目源码为实现依据。两篇论文仅为概念相近的扩展阅读，不据此声称本项目实现了 ReAct/Reflexion，也不引用其指标证明本项目效果。</a:t>
            </a:r>
          </a:p>
          <a:p xmlns:a="http://schemas.openxmlformats.org/drawingml/2006/main">
            <a:r>
              <a:t>ReAct: Synergizing Reasoning and Acting in Language Models. ICLR 2023.</a:t>
            </a:r>
          </a:p>
          <a:p xmlns:a="http://schemas.openxmlformats.org/drawingml/2006/main">
            <a:r>
              <a:t>Reflexion: Language Agents with Verbal Reinforcement Learning. 2023.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https://github.com/chao-shu/CCE_SKILL/blob/72662e7fe4adfd3cbf378486b2eebc5c5aae8a05/README.zh-CN.md</a:t>
            </a:r>
          </a:p>
          <a:p xmlns:a="http://schemas.openxmlformats.org/drawingml/2006/main">
            <a:r>
              <a:t>https://arxiv.org/abs/2210.03629</a:t>
            </a:r>
          </a:p>
          <a:p xmlns:a="http://schemas.openxmlformats.org/drawingml/2006/main">
            <a:r>
              <a:t>https://arxiv.org/abs/2303.11366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本页是建议验收计划，不是已完成事项。验收应在用户真实环境执行，缺少条件时如实标记 BLOCKED 或 NOT_RUN。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https://github.com/chao-shu/CCE_SKILL/blob/72662e7fe4adfd3cbf378486b2eebc5c5aae8a05/README.zh-CN.md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d1c0cc6706422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43cfdf0cbc6484f" /><Relationship Type="http://schemas.openxmlformats.org/officeDocument/2006/relationships/slideLayout" Target="/ppt/slideLayouts/slideLayout1.xml" Id="R268bf9cf1b254e3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68bf9cf1b254e3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8eb764e42842c4" /><Relationship Type="http://schemas.openxmlformats.org/officeDocument/2006/relationships/notesSlide" Target="/ppt/notesSlides/notesSlide1.xml" Id="R7d7f868562014ca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454667911e4f49" /><Relationship Type="http://schemas.openxmlformats.org/officeDocument/2006/relationships/notesSlide" Target="/ppt/notesSlides/notesSlide2.xml" Id="R49e04bbcbbb94a5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ff11b258f64841" /><Relationship Type="http://schemas.openxmlformats.org/officeDocument/2006/relationships/notesSlide" Target="/ppt/notesSlides/notesSlide3.xml" Id="Rb7f84774a8f5466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754230b7134b0e" /><Relationship Type="http://schemas.openxmlformats.org/officeDocument/2006/relationships/notesSlide" Target="/ppt/notesSlides/notesSlide4.xml" Id="R08d5c9954d0d480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15427dcb574899" /><Relationship Type="http://schemas.openxmlformats.org/officeDocument/2006/relationships/notesSlide" Target="/ppt/notesSlides/notesSlide5.xml" Id="R900d7759f1624ef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f0851ab51640b4" /><Relationship Type="http://schemas.openxmlformats.org/officeDocument/2006/relationships/notesSlide" Target="/ppt/notesSlides/notesSlide6.xml" Id="R3e2b5e1962f441d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8d014d818b48e4" /><Relationship Type="http://schemas.openxmlformats.org/officeDocument/2006/relationships/notesSlide" Target="/ppt/notesSlides/notesSlide7.xml" Id="R6ce6325a04e14bb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0b9df11e244a16" /><Relationship Type="http://schemas.openxmlformats.org/officeDocument/2006/relationships/notesSlide" Target="/ppt/notesSlides/notesSlide8.xml" Id="Rc893dc651ae7436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e26d94ccb947f3" /><Relationship Type="http://schemas.openxmlformats.org/officeDocument/2006/relationships/notesSlide" Target="/ppt/notesSlides/notesSlide9.xml" Id="Rfe87d015c8574a3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9efcef8588407f" /><Relationship Type="http://schemas.openxmlformats.org/officeDocument/2006/relationships/notesSlide" Target="/ppt/notesSlides/notesSlide10.xml" Id="Rc75f9a9008a0452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586db60c3b486b" /><Relationship Type="http://schemas.openxmlformats.org/officeDocument/2006/relationships/notesSlide" Target="/ppt/notesSlides/notesSlide11.xml" Id="R57f676d9b761483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1d0c293e0d41df" /><Relationship Type="http://schemas.openxmlformats.org/officeDocument/2006/relationships/notesSlide" Target="/ppt/notesSlides/notesSlide12.xml" Id="R9fca7befe34e4a9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b00d7b1d944bd9" /><Relationship Type="http://schemas.openxmlformats.org/officeDocument/2006/relationships/notesSlide" Target="/ppt/notesSlides/notesSlide13.xml" Id="R60525de226c7464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f0805f4cc14d29" /><Relationship Type="http://schemas.openxmlformats.org/officeDocument/2006/relationships/notesSlide" Target="/ppt/notesSlides/notesSlide14.xml" Id="R92ea2433fbb34c9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2348ce6e814e2c" /><Relationship Type="http://schemas.openxmlformats.org/officeDocument/2006/relationships/notesSlide" Target="/ppt/notesSlides/notesSlide15.xml" Id="Re604c5f764b7439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15caf5da3e493f" /><Relationship Type="http://schemas.openxmlformats.org/officeDocument/2006/relationships/notesSlide" Target="/ppt/notesSlides/notesSlide16.xml" Id="Ra8ea6f24b62f48d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988F87-1AA0-41E5-9797-A6BA70FC1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86CE2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275" b="1">
                <a:solidFill>
                  <a:srgbClr val="286CE2"/>
                </a:solidFill>
                <a:latin typeface="WenQuanYi Zen Hei"/>
                <a:ea typeface="WenQuanYi Zen Hei"/>
                <a:cs typeface="WenQuanYi Zen Hei"/>
              </a:rPr>
              <a:t>CCE-C WORKFLOW  /  DESIGN 3.2.0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9E9563-16A2-478B-80E0-6982C2DB2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1125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C72DA2-ED8B-4E39-8AE2-CB42C6381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96025"/>
            <a:ext cx="111252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5DA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9B0009-401A-4C5A-A75E-F4A78536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2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Ascend 310P · DaVinci · CCE-C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AACDED-4818-49CD-9DC2-1B9145EB6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00800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3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3A8A46-6FC9-48AF-8317-77A489173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23975"/>
            <a:ext cx="11125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111318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5700" b="1">
                <a:solidFill>
                  <a:srgbClr val="111318"/>
                </a:solidFill>
                <a:latin typeface="WenQuanYi Zen Hei"/>
                <a:ea typeface="WenQuanYi Zen Hei"/>
                <a:cs typeface="WenQuanYi Zen Hei"/>
              </a:rPr>
              <a:t>Ascend 310P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F3DA2D-E974-4109-B944-8DF488003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0"/>
            <a:ext cx="11125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111318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5100" b="1">
                <a:solidFill>
                  <a:srgbClr val="111318"/>
                </a:solidFill>
                <a:latin typeface="WenQuanYi Zen Hei"/>
                <a:ea typeface="WenQuanYi Zen Hei"/>
                <a:cs typeface="WenQuanYi Zen Hei"/>
              </a:rPr>
              <a:t>CCE-C 算子开发工作流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7A5EF3-4CA4-4ACD-A9D4-6DE1DAD7A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0997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24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从 Python 参考实现，到有证据的算子交付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DC3A77-16FE-4CD5-9379-FB9FE6F9F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76775"/>
            <a:ext cx="111252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5DAE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F9E96B-47B2-4646-B8A5-6643493FE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38725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11318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2400" b="1">
                <a:solidFill>
                  <a:srgbClr val="111318"/>
                </a:solidFill>
                <a:latin typeface="WenQuanYi Zen Hei"/>
                <a:ea typeface="WenQuanYi Zen Hei"/>
                <a:cs typeface="WenQuanYi Zen Hei"/>
              </a:rPr>
              <a:t>任务拆分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37B971-4D1C-4DDB-A6C4-F1F841485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038725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11318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2400" b="1">
                <a:solidFill>
                  <a:srgbClr val="111318"/>
                </a:solidFill>
                <a:latin typeface="WenQuanYi Zen Hei"/>
                <a:ea typeface="WenQuanYi Zen Hei"/>
                <a:cs typeface="WenQuanYi Zen Hei"/>
              </a:rPr>
              <a:t>证据门禁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5161C4-CF4B-47E4-855B-F70B19AE2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038725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11318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2400" b="1">
                <a:solidFill>
                  <a:srgbClr val="111318"/>
                </a:solidFill>
                <a:latin typeface="WenQuanYi Zen Hei"/>
                <a:ea typeface="WenQuanYi Zen Hei"/>
                <a:cs typeface="WenQuanYi Zen Hei"/>
              </a:rPr>
              <a:t>知识沉淀</a:t>
            </a:r>
          </a:p>
        </p:txBody>
      </p:sp>
    </p:spTree>
    <p:extLst>
      <p:ext uri="{BB962C8B-B14F-4D97-AF65-F5344CB8AC3E}">
        <p14:creationId xmlns:p14="http://schemas.microsoft.com/office/powerpoint/2010/main" val="11143425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C20796-E9DC-4480-A0DB-338B658CF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86CE2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275" b="1">
                <a:solidFill>
                  <a:srgbClr val="286CE2"/>
                </a:solidFill>
                <a:latin typeface="WenQuanYi Zen Hei"/>
                <a:ea typeface="WenQuanYi Zen Hei"/>
                <a:cs typeface="WenQuanYi Zen Hei"/>
              </a:rPr>
              <a:t>CCE-C WORKFLOW  /  DESIGN 3.2.0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1F3B9D-9067-4F4B-A614-AB265CA30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1125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11318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3600" b="1">
                <a:solidFill>
                  <a:srgbClr val="111318"/>
                </a:solidFill>
                <a:latin typeface="WenQuanYi Zen Hei"/>
                <a:ea typeface="WenQuanYi Zen Hei"/>
                <a:cs typeface="WenQuanYi Zen Hei"/>
              </a:rPr>
              <a:t>要解决的，不只是“生成代码”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C364FB-7574-4063-AB0E-6D1D38BE0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33525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875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目标：让每一个关键结论，都能找到对应的输入、产物和验证记录。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50F79B-8007-45BC-9A78-3E76079A6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96025"/>
            <a:ext cx="111252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5DA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E3D50D-7A48-4172-BBB7-7D54B9B98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2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Ascend 310P · DaVinci · CCE-C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82B3A5-5879-4D17-A058-B8EACDF98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00800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3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D2DF83-974B-48B9-80A4-253A2855D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57450"/>
            <a:ext cx="33337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5DAE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1AB1D4-643C-4D71-A9EA-F70F898B9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479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86CE2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2550" b="1">
                <a:solidFill>
                  <a:srgbClr val="286CE2"/>
                </a:solidFill>
                <a:latin typeface="WenQuanYi Zen Hei"/>
                <a:ea typeface="WenQuanYi Zen Hei"/>
                <a:cs typeface="WenQuanYi Zen He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853D9A-2B75-428E-A41D-EDAB1A068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86125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11318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2400" b="1">
                <a:solidFill>
                  <a:srgbClr val="111318"/>
                </a:solidFill>
                <a:latin typeface="WenQuanYi Zen Hei"/>
                <a:ea typeface="WenQuanYi Zen Hei"/>
                <a:cs typeface="WenQuanYi Zen Hei"/>
              </a:rPr>
              <a:t>接口可能不匹配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198D28-C248-4D91-BAE7-460DE281A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71925"/>
            <a:ext cx="3333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9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同名接口不代表可用。</a:t>
            </a:r>
          </a:p>
          <a:p xmlns:a="http://schemas.openxmlformats.org/drawingml/2006/main">
            <a:pPr>
              <a:defRPr sz="19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9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需要核对 310P、后端与</a:t>
            </a:r>
          </a:p>
          <a:p xmlns:a="http://schemas.openxmlformats.org/drawingml/2006/main">
            <a:pPr>
              <a:defRPr sz="19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9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当前工具链版本。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D0B387-55EF-46D4-88B0-9571FD0A6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457450"/>
            <a:ext cx="33337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5DAE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07CBB6-A23F-4FA4-AB93-A54CDE22F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6479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86CE2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2550" b="1">
                <a:solidFill>
                  <a:srgbClr val="286CE2"/>
                </a:solidFill>
                <a:latin typeface="WenQuanYi Zen Hei"/>
                <a:ea typeface="WenQuanYi Zen Hei"/>
                <a:cs typeface="WenQuanYi Zen He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E761A1-7A0E-4F98-831B-6DD912C18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286125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11318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2400" b="1">
                <a:solidFill>
                  <a:srgbClr val="111318"/>
                </a:solidFill>
                <a:latin typeface="WenQuanYi Zen Hei"/>
                <a:ea typeface="WenQuanYi Zen Hei"/>
                <a:cs typeface="WenQuanYi Zen Hei"/>
              </a:rPr>
              <a:t>正确性需要证明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F29ADA-42C3-471E-86A6-0861ABC01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971925"/>
            <a:ext cx="3333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9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语义、精度、边界条件</a:t>
            </a:r>
          </a:p>
          <a:p xmlns:a="http://schemas.openxmlformats.org/drawingml/2006/main">
            <a:pPr>
              <a:defRPr sz="19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9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都需要实际验证，</a:t>
            </a:r>
          </a:p>
          <a:p xmlns:a="http://schemas.openxmlformats.org/drawingml/2006/main">
            <a:pPr>
              <a:defRPr sz="19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9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不能只靠代码看起来对。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11F79F-2037-4DF0-BFFC-3FBADCBC9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57450"/>
            <a:ext cx="33337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5DAE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01287E-319C-457A-9DD3-48CE5B142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479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86CE2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2550" b="1">
                <a:solidFill>
                  <a:srgbClr val="286CE2"/>
                </a:solidFill>
                <a:latin typeface="WenQuanYi Zen Hei"/>
                <a:ea typeface="WenQuanYi Zen Hei"/>
                <a:cs typeface="WenQuanYi Zen Hei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1B8E71-459C-48D4-AE21-0B34693F8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286125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11318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2400" b="1">
                <a:solidFill>
                  <a:srgbClr val="111318"/>
                </a:solidFill>
                <a:latin typeface="WenQuanYi Zen Hei"/>
                <a:ea typeface="WenQuanYi Zen Hei"/>
                <a:cs typeface="WenQuanYi Zen Hei"/>
              </a:rPr>
              <a:t>经验可能被误用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C7D721-6D1D-4A53-AC07-FA86D803F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971925"/>
            <a:ext cx="3333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9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一次成功不等于普遍适用。</a:t>
            </a:r>
          </a:p>
          <a:p xmlns:a="http://schemas.openxmlformats.org/drawingml/2006/main">
            <a:pPr>
              <a:defRPr sz="19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9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知识需要来源、范围</a:t>
            </a:r>
          </a:p>
          <a:p xmlns:a="http://schemas.openxmlformats.org/drawingml/2006/main">
            <a:pPr>
              <a:defRPr sz="19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9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和有效性检查。</a:t>
            </a:r>
          </a:p>
        </p:txBody>
      </p:sp>
    </p:spTree>
    <p:extLst>
      <p:ext uri="{BB962C8B-B14F-4D97-AF65-F5344CB8AC3E}">
        <p14:creationId xmlns:p14="http://schemas.microsoft.com/office/powerpoint/2010/main" val="4245273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CF77FE-11FB-43DF-8826-1B4D3E7B3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86CE2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275" b="1">
                <a:solidFill>
                  <a:srgbClr val="286CE2"/>
                </a:solidFill>
                <a:latin typeface="WenQuanYi Zen Hei"/>
                <a:ea typeface="WenQuanYi Zen Hei"/>
                <a:cs typeface="WenQuanYi Zen Hei"/>
              </a:rPr>
              <a:t>CCE-C WORKFLOW  /  DESIGN 3.2.0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67079E-F74C-4DA9-8CE9-437304205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1125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11318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3600" b="1">
                <a:solidFill>
                  <a:srgbClr val="111318"/>
                </a:solidFill>
                <a:latin typeface="WenQuanYi Zen Hei"/>
                <a:ea typeface="WenQuanYi Zen Hei"/>
                <a:cs typeface="WenQuanYi Zen Hei"/>
              </a:rPr>
              <a:t>设计理念：分工、证据、受控复用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1F8F98-0AAA-485C-95F7-DC8C1A18F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33525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875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把“Agent 的判断”与“可检查的工程事实”连接起来。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DF147B-5AB9-427D-8AE6-F708CFFC0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96025"/>
            <a:ext cx="111252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5DA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3D5D47-B887-479D-B2B1-9DDF7E6C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2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Ascend 310P · DaVinci · CCE-C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55A41B-8020-4379-A224-DE4420390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00800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3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598F57-164C-4D89-9B48-C0A7D2553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57450"/>
            <a:ext cx="33337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5DAE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DB5184-225F-487A-9ADF-63A4E2E48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479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86CE2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2550" b="1">
                <a:solidFill>
                  <a:srgbClr val="286CE2"/>
                </a:solidFill>
                <a:latin typeface="WenQuanYi Zen Hei"/>
                <a:ea typeface="WenQuanYi Zen Hei"/>
                <a:cs typeface="WenQuanYi Zen He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2308CB-855A-422C-8511-6BD38B6E8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86125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11318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2400" b="1">
                <a:solidFill>
                  <a:srgbClr val="111318"/>
                </a:solidFill>
                <a:latin typeface="WenQuanYi Zen Hei"/>
                <a:ea typeface="WenQuanYi Zen Hei"/>
                <a:cs typeface="WenQuanYi Zen Hei"/>
              </a:rPr>
              <a:t>小任务，清晰交接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9E650B-67A8-4D84-A4AA-CDA70CE12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71925"/>
            <a:ext cx="3333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9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每个 Skill 负责一个阶段。</a:t>
            </a:r>
          </a:p>
          <a:p xmlns:a="http://schemas.openxmlformats.org/drawingml/2006/main">
            <a:pPr>
              <a:defRPr sz="19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9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通过文件和阶段报告交接，</a:t>
            </a:r>
          </a:p>
          <a:p xmlns:a="http://schemas.openxmlformats.org/drawingml/2006/main">
            <a:pPr>
              <a:defRPr sz="19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9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减少上下文遗漏。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F6F111-D8BF-477D-8AD3-608563ABC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457450"/>
            <a:ext cx="33337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5DAE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F98CD3-47DC-47A6-98D8-27BC2D836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6479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86CE2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2550" b="1">
                <a:solidFill>
                  <a:srgbClr val="286CE2"/>
                </a:solidFill>
                <a:latin typeface="WenQuanYi Zen Hei"/>
                <a:ea typeface="WenQuanYi Zen Hei"/>
                <a:cs typeface="WenQuanYi Zen He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81DC91-9FD8-4672-AB8A-E16A229DE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286125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11318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2400" b="1">
                <a:solidFill>
                  <a:srgbClr val="111318"/>
                </a:solidFill>
                <a:latin typeface="WenQuanYi Zen Hei"/>
                <a:ea typeface="WenQuanYi Zen Hei"/>
                <a:cs typeface="WenQuanYi Zen Hei"/>
              </a:rPr>
              <a:t>先验证，再推进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8F8724-6062-44E3-8178-489B802E7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971925"/>
            <a:ext cx="3333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9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构建通过后才谈精度；</a:t>
            </a:r>
          </a:p>
          <a:p xmlns:a="http://schemas.openxmlformats.org/drawingml/2006/main">
            <a:pPr>
              <a:defRPr sz="19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9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精度通过后再做性能分析。</a:t>
            </a:r>
          </a:p>
          <a:p xmlns:a="http://schemas.openxmlformats.org/drawingml/2006/main">
            <a:pPr>
              <a:defRPr sz="19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9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缺少条件就明确停下。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3637E1-87B7-4557-8721-9F165C313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57450"/>
            <a:ext cx="33337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5DAE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664BB4-0ACA-4C17-9424-E484219C1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479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86CE2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2550" b="1">
                <a:solidFill>
                  <a:srgbClr val="286CE2"/>
                </a:solidFill>
                <a:latin typeface="WenQuanYi Zen Hei"/>
                <a:ea typeface="WenQuanYi Zen Hei"/>
                <a:cs typeface="WenQuanYi Zen Hei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D3658B-3114-4FC7-AE7E-F69897278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286125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11318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2400" b="1">
                <a:solidFill>
                  <a:srgbClr val="111318"/>
                </a:solidFill>
                <a:latin typeface="WenQuanYi Zen Hei"/>
                <a:ea typeface="WenQuanYi Zen Hei"/>
                <a:cs typeface="WenQuanYi Zen Hei"/>
              </a:rPr>
              <a:t>先筛选，再沉淀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96875C-8F97-47BA-B3B5-AADC593E7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971925"/>
            <a:ext cx="3333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9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独立摄取初始化知识。</a:t>
            </a:r>
          </a:p>
          <a:p xmlns:a="http://schemas.openxmlformats.org/drawingml/2006/main">
            <a:pPr>
              <a:defRPr sz="19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9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后续从真实执行中提炼，</a:t>
            </a:r>
          </a:p>
          <a:p xmlns:a="http://schemas.openxmlformats.org/drawingml/2006/main">
            <a:pPr>
              <a:defRPr sz="19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9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去重后再进入知识库。</a:t>
            </a:r>
          </a:p>
        </p:txBody>
      </p:sp>
    </p:spTree>
    <p:extLst>
      <p:ext uri="{BB962C8B-B14F-4D97-AF65-F5344CB8AC3E}">
        <p14:creationId xmlns:p14="http://schemas.microsoft.com/office/powerpoint/2010/main" val="18829251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7B0102-6B32-4313-B18C-80855226A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86CE2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275" b="1">
                <a:solidFill>
                  <a:srgbClr val="286CE2"/>
                </a:solidFill>
                <a:latin typeface="WenQuanYi Zen Hei"/>
                <a:ea typeface="WenQuanYi Zen Hei"/>
                <a:cs typeface="WenQuanYi Zen Hei"/>
              </a:rPr>
              <a:t>CCE-C WORKFLOW  /  DESIGN 3.2.0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539C4A-7B34-4FB2-8BE9-99B00232F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1125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11318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3600" b="1">
                <a:solidFill>
                  <a:srgbClr val="111318"/>
                </a:solidFill>
                <a:latin typeface="WenQuanYi Zen Hei"/>
                <a:ea typeface="WenQuanYi Zen Hei"/>
                <a:cs typeface="WenQuanYi Zen Hei"/>
              </a:rPr>
              <a:t>谁负责什么：1 + 14 + 1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B15D26-ECF6-4F8E-A0A8-82A31C594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33525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875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Skill 是任务规范；支持 subagent 的 Agent 负责实际执行。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FAE9DF-31F6-4F78-9482-A805A63AD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96025"/>
            <a:ext cx="111252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5DA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461331-DF71-414C-9736-33393A950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2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Ascend 310P · DaVinci · CCE-C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F97D77-BC7D-477E-B70E-95CBB5353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00800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3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CD766C-F6AE-4144-9B03-C713AEFA1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66950"/>
            <a:ext cx="1112520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1F6C84-C62C-4C45-A5D9-514AC8B87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95625"/>
            <a:ext cx="111252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5DAE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1E9917-4F56-4452-B74F-185303A77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2209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318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875" b="1">
                <a:solidFill>
                  <a:srgbClr val="111318"/>
                </a:solidFill>
                <a:latin typeface="WenQuanYi Zen Hei"/>
                <a:ea typeface="WenQuanYi Zen Hei"/>
                <a:cs typeface="WenQuanYi Zen Hei"/>
              </a:rPr>
              <a:t>角色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970D01-9ED9-487C-80C2-D650F502E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428875"/>
            <a:ext cx="3733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318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875" b="1">
                <a:solidFill>
                  <a:srgbClr val="111318"/>
                </a:solidFill>
                <a:latin typeface="WenQuanYi Zen Hei"/>
                <a:ea typeface="WenQuanYi Zen Hei"/>
                <a:cs typeface="WenQuanYi Zen Hei"/>
              </a:rPr>
              <a:t>主要职责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303C5A-376B-46F6-81AC-0EFDE447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28875"/>
            <a:ext cx="4381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318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875" b="1">
                <a:solidFill>
                  <a:srgbClr val="111318"/>
                </a:solidFill>
                <a:latin typeface="WenQuanYi Zen Hei"/>
                <a:ea typeface="WenQuanYi Zen Hei"/>
                <a:cs typeface="WenQuanYi Zen Hei"/>
              </a:rPr>
              <a:t>不负责什么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6800E9-5D48-4B56-9E60-D03F06161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24300"/>
            <a:ext cx="111252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5DAE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4268E6-1430-4D23-AAEE-1CCCAA786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2209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8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1 个总控 Skill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AFEBA2-0D26-4665-B1BE-58B1DBE79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57550"/>
            <a:ext cx="3733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8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编排阶段、检查门禁、维护状态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619DD9-7151-47B4-A860-4E88F48FA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57550"/>
            <a:ext cx="4381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8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不替代编译器或硬件测试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E5B433-B36D-4BB7-93F7-1E0E94D07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52975"/>
            <a:ext cx="111252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5DAE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240D2D-06A4-4238-9D03-EF11B72DD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86225"/>
            <a:ext cx="2209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8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14 个阶段 Skill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5B57F4-E354-492B-8E75-1748AFDE6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86225"/>
            <a:ext cx="3733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8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分析、开发、验证、优化与维护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40AD94-579D-4B4D-B433-D1188814C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086225"/>
            <a:ext cx="4381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8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不跳过前置条件自报成功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E1788E-3787-4432-8721-7E68221EE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81650"/>
            <a:ext cx="111252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5DAE1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0F5F29-4319-4FB5-BB15-E172B7712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14900"/>
            <a:ext cx="2209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8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1 个独立摄取 Skill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0BE727-FEB0-40F0-8438-B5096CDE0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914900"/>
            <a:ext cx="3733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8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从正确算子和 PDF 初始化知识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69C534-42E1-4654-9431-6ACF7A00F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914900"/>
            <a:ext cx="4381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8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不由总控自动调用</a:t>
            </a:r>
          </a:p>
        </p:txBody>
      </p:sp>
    </p:spTree>
    <p:extLst>
      <p:ext uri="{BB962C8B-B14F-4D97-AF65-F5344CB8AC3E}">
        <p14:creationId xmlns:p14="http://schemas.microsoft.com/office/powerpoint/2010/main" val="7066914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21E2D5-51CA-4165-8747-B922BD4A9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86CE2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275" b="1">
                <a:solidFill>
                  <a:srgbClr val="286CE2"/>
                </a:solidFill>
                <a:latin typeface="WenQuanYi Zen Hei"/>
                <a:ea typeface="WenQuanYi Zen Hei"/>
                <a:cs typeface="WenQuanYi Zen Hei"/>
              </a:rPr>
              <a:t>CCE-C WORKFLOW  /  DESIGN 3.2.0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E535F6-B938-464C-ADA9-151CF26BB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1125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11318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3600" b="1">
                <a:solidFill>
                  <a:srgbClr val="111318"/>
                </a:solidFill>
                <a:latin typeface="WenQuanYi Zen Hei"/>
                <a:ea typeface="WenQuanYi Zen Hei"/>
                <a:cs typeface="WenQuanYi Zen Hei"/>
              </a:rPr>
              <a:t>主流程：先做对，再做快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8B5977-2BD7-4D48-8495-D7A740ED3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33525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875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按阅读顺序展示；部分独立阶段可并行，验证门禁不能跳过。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B1BE96-0A47-4DC5-A4F7-E74E13F0C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96025"/>
            <a:ext cx="111252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5DA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B7656B-4F74-4FE5-B5AC-3CDE29CD9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2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Ascend 310P · DaVinci · CCE-C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A3C707-D59B-4141-9AC0-6044A0099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00800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3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636244-182D-477F-A5B0-DAFE7E7B6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95525"/>
            <a:ext cx="33337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5DAE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548C93-EFB2-4872-9921-668315BF6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57450"/>
            <a:ext cx="3524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11318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2250" b="1">
                <a:solidFill>
                  <a:srgbClr val="111318"/>
                </a:solidFill>
                <a:latin typeface="WenQuanYi Zen Hei"/>
                <a:ea typeface="WenQuanYi Zen Hei"/>
                <a:cs typeface="WenQuanYi Zen Hei"/>
              </a:rPr>
              <a:t>01  明确输入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A1F295-76D0-4C8B-8702-2D2088989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38475"/>
            <a:ext cx="35242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875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环境探测 · 工程调查</a:t>
            </a:r>
          </a:p>
          <a:p xmlns:a="http://schemas.openxmlformats.org/drawingml/2006/main">
            <a:pPr>
              <a:defRPr sz="1875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875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语义分析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2EBC31-F5DF-4866-B249-F95657543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95525"/>
            <a:ext cx="33337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5DAE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352B74-1F13-45DC-8CF2-C48965D45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457450"/>
            <a:ext cx="3524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11318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2250" b="1">
                <a:solidFill>
                  <a:srgbClr val="111318"/>
                </a:solidFill>
                <a:latin typeface="WenQuanYi Zen Hei"/>
                <a:ea typeface="WenQuanYi Zen Hei"/>
                <a:cs typeface="WenQuanYi Zen Hei"/>
              </a:rPr>
              <a:t>02  准备依据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414E5B-D7FC-48EF-9097-F88ABD61C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038475"/>
            <a:ext cx="35242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875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知识检索 · 用例生成</a:t>
            </a:r>
          </a:p>
          <a:p xmlns:a="http://schemas.openxmlformats.org/drawingml/2006/main">
            <a:pPr>
              <a:defRPr sz="1875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875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DaVinci 设计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B00B7D-B63B-4680-B6AA-33C30377F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295525"/>
            <a:ext cx="33337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5DAE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B72A2E-DFCE-4588-A20E-08FE550DB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57450"/>
            <a:ext cx="3524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11318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2250" b="1">
                <a:solidFill>
                  <a:srgbClr val="111318"/>
                </a:solidFill>
                <a:latin typeface="WenQuanYi Zen Hei"/>
                <a:ea typeface="WenQuanYi Zen Hei"/>
                <a:cs typeface="WenQuanYi Zen Hei"/>
              </a:rPr>
              <a:t>03  建立基线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92912E-22A9-4BB8-9E9B-9B1FC20F5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038475"/>
            <a:ext cx="35242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875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代码生成 · 构建调试</a:t>
            </a:r>
          </a:p>
          <a:p xmlns:a="http://schemas.openxmlformats.org/drawingml/2006/main">
            <a:pPr>
              <a:defRPr sz="1875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875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精度验证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2D2BCB-67CC-4CEA-848A-16E1DA689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48125"/>
            <a:ext cx="33337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5DAE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680255-5394-4D0E-9EEC-BD15D4CBB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10050"/>
            <a:ext cx="3524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11318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2250" b="1">
                <a:solidFill>
                  <a:srgbClr val="111318"/>
                </a:solidFill>
                <a:latin typeface="WenQuanYi Zen Hei"/>
                <a:ea typeface="WenQuanYi Zen Hei"/>
                <a:cs typeface="WenQuanYi Zen Hei"/>
              </a:rPr>
              <a:t>04  性能迭代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0BF03A-D529-4446-98CF-1BE6A987F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91075"/>
            <a:ext cx="35242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875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性能分析 · 优化</a:t>
            </a:r>
          </a:p>
          <a:p xmlns:a="http://schemas.openxmlformats.org/drawingml/2006/main">
            <a:pPr>
              <a:defRPr sz="1875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875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每轮重新验证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98C3DC-1E85-4305-95A1-6438BEA38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048125"/>
            <a:ext cx="33337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5DAE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307BA1-039C-427F-B7C2-604BF75D7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210050"/>
            <a:ext cx="3524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11318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2250" b="1">
                <a:solidFill>
                  <a:srgbClr val="111318"/>
                </a:solidFill>
                <a:latin typeface="WenQuanYi Zen Hei"/>
                <a:ea typeface="WenQuanYi Zen Hei"/>
                <a:cs typeface="WenQuanYi Zen Hei"/>
              </a:rPr>
              <a:t>05  交付审计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618004-40C0-48C4-A240-56A6F8BE2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791075"/>
            <a:ext cx="35242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875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回归测试</a:t>
            </a:r>
          </a:p>
          <a:p xmlns:a="http://schemas.openxmlformats.org/drawingml/2006/main">
            <a:pPr>
              <a:defRPr sz="1875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875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发布审计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C39ABE-0B00-4355-897E-AA2802F84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048125"/>
            <a:ext cx="33337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5DAE1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F75EC3-9FD9-41BD-9DEB-EB13B19C4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210050"/>
            <a:ext cx="3524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11318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2250" b="1">
                <a:solidFill>
                  <a:srgbClr val="111318"/>
                </a:solidFill>
                <a:latin typeface="WenQuanYi Zen Hei"/>
                <a:ea typeface="WenQuanYi Zen Hei"/>
                <a:cs typeface="WenQuanYi Zen Hei"/>
              </a:rPr>
              <a:t>06  知识维护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75BDB5-10EE-425C-9D5E-9833C87DB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791075"/>
            <a:ext cx="35242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875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kb-curation</a:t>
            </a:r>
          </a:p>
          <a:p xmlns:a="http://schemas.openxmlformats.org/drawingml/2006/main">
            <a:pPr>
              <a:defRPr sz="1875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875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收尾沉淀有效经验</a:t>
            </a:r>
          </a:p>
        </p:txBody>
      </p:sp>
    </p:spTree>
    <p:extLst>
      <p:ext uri="{BB962C8B-B14F-4D97-AF65-F5344CB8AC3E}">
        <p14:creationId xmlns:p14="http://schemas.microsoft.com/office/powerpoint/2010/main" val="9414253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65A959-33CA-4395-AB95-75C85D7FD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86CE2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275" b="1">
                <a:solidFill>
                  <a:srgbClr val="286CE2"/>
                </a:solidFill>
                <a:latin typeface="WenQuanYi Zen Hei"/>
                <a:ea typeface="WenQuanYi Zen Hei"/>
                <a:cs typeface="WenQuanYi Zen Hei"/>
              </a:rPr>
              <a:t>CCE-C WORKFLOW  /  DESIGN 3.2.0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54D030-7F91-4ED6-BC99-A4D02440B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1125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11318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3600" b="1">
                <a:solidFill>
                  <a:srgbClr val="111318"/>
                </a:solidFill>
                <a:latin typeface="WenQuanYi Zen Hei"/>
                <a:ea typeface="WenQuanYi Zen Hei"/>
                <a:cs typeface="WenQuanYi Zen Hei"/>
              </a:rPr>
              <a:t>知识生命周期：初始化与日常更新分开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694EF5-F8BB-49AD-9B0B-9D49DE69F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33525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875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总控不调用 ingestion；后续算子执行的新知识只通过 kb-curation 更新。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525510-D2F6-4A72-AC5B-2BF2B936C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96025"/>
            <a:ext cx="111252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5DA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F85B6E-A700-41B7-BD20-5FF1EBF0B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2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Ascend 310P · DaVinci · CCE-C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09F7A4-E054-4E9C-AB2A-39199CF0C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00800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3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246989-B306-4E84-8AFA-E45A3927C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05050"/>
            <a:ext cx="3333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5F1C11-AC19-4188-814E-3B7B8432D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11318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2400" b="1">
                <a:solidFill>
                  <a:srgbClr val="111318"/>
                </a:solidFill>
                <a:latin typeface="WenQuanYi Zen Hei"/>
                <a:ea typeface="WenQuanYi Zen Hei"/>
                <a:cs typeface="WenQuanYi Zen Hei"/>
              </a:rPr>
              <a:t>首次独立调用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F61F89-DD9F-414C-97D6-4E493FD2C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9925"/>
            <a:ext cx="287655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9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正确算子目录 / PDF</a:t>
            </a:r>
          </a:p>
          <a:p xmlns:a="http://schemas.openxmlformats.org/drawingml/2006/main">
            <a:pPr>
              <a:defRPr sz="19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9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↓</a:t>
            </a:r>
          </a:p>
          <a:p xmlns:a="http://schemas.openxmlformats.org/drawingml/2006/main">
            <a:pPr>
              <a:defRPr sz="19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9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kb-ingestion</a:t>
            </a:r>
          </a:p>
          <a:p xmlns:a="http://schemas.openxmlformats.org/drawingml/2006/main">
            <a:pPr>
              <a:defRPr sz="19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9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↓</a:t>
            </a:r>
          </a:p>
          <a:p xmlns:a="http://schemas.openxmlformats.org/drawingml/2006/main">
            <a:pPr>
              <a:defRPr sz="19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9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候选筛选与初始化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36AF0E-EF60-485E-88EA-52E98E033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3581400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6CE2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3300" b="1">
                <a:solidFill>
                  <a:srgbClr val="286CE2"/>
                </a:solidFill>
                <a:latin typeface="WenQuanYi Zen Hei"/>
                <a:ea typeface="WenQuanYi Zen Hei"/>
                <a:cs typeface="WenQuanYi Zen Hei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4CBB38-53BA-4B90-89CB-F336CBD43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105150"/>
            <a:ext cx="21907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FF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31010E-91A3-4177-8DFE-66DE1F4E8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314700"/>
            <a:ext cx="1905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86CE2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2100" b="1">
                <a:solidFill>
                  <a:srgbClr val="286CE2"/>
                </a:solidFill>
                <a:latin typeface="WenQuanYi Zen Hei"/>
                <a:ea typeface="WenQuanYi Zen Hei"/>
                <a:cs typeface="WenQuanYi Zen Hei"/>
              </a:rPr>
              <a:t>knowledge/</a:t>
            </a:r>
          </a:p>
          <a:p xmlns:a="http://schemas.openxmlformats.org/drawingml/2006/main">
            <a:pPr>
              <a:defRPr sz="2100" b="1">
                <a:solidFill>
                  <a:srgbClr val="286CE2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2100" b="1">
                <a:solidFill>
                  <a:srgbClr val="286CE2"/>
                </a:solidFill>
                <a:latin typeface="WenQuanYi Zen Hei"/>
                <a:ea typeface="WenQuanYi Zen Hei"/>
                <a:cs typeface="WenQuanYi Zen Hei"/>
              </a:rPr>
              <a:t>可追溯知识卡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A1F64C-81A8-4655-AB18-323388B8F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305175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6CE2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3300" b="1">
                <a:solidFill>
                  <a:srgbClr val="286CE2"/>
                </a:solidFill>
                <a:latin typeface="WenQuanYi Zen Hei"/>
                <a:ea typeface="WenQuanYi Zen Hei"/>
                <a:cs typeface="WenQuanYi Zen Hei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133A23-3D58-4739-8B26-73D67149F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314825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6CE2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3300" b="1">
                <a:solidFill>
                  <a:srgbClr val="286CE2"/>
                </a:solidFill>
                <a:latin typeface="WenQuanYi Zen Hei"/>
                <a:ea typeface="WenQuanYi Zen Hei"/>
                <a:cs typeface="WenQuanYi Zen Hei"/>
              </a:rPr>
              <a:t>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B2CCA3-1226-4E48-B2A3-3D12F6739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96227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6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读取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2391F8-B2FB-477F-8E48-3F5434054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86727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6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更新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FBFBED-7E0F-4C36-95C6-DD0CC4E54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305050"/>
            <a:ext cx="332422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D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8676F5-72A5-492D-9F33-AE8727797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5336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11318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2400" b="1">
                <a:solidFill>
                  <a:srgbClr val="111318"/>
                </a:solidFill>
                <a:latin typeface="WenQuanYi Zen Hei"/>
                <a:ea typeface="WenQuanYi Zen Hei"/>
                <a:cs typeface="WenQuanYi Zen Hei"/>
              </a:rPr>
              <a:t>日常算子任务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33AA15-9667-43D9-A80F-D9AFDE5D4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209925"/>
            <a:ext cx="2857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9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检索适用知识</a:t>
            </a:r>
          </a:p>
          <a:p xmlns:a="http://schemas.openxmlformats.org/drawingml/2006/main">
            <a:pPr>
              <a:defRPr sz="19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9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↓</a:t>
            </a:r>
          </a:p>
          <a:p xmlns:a="http://schemas.openxmlformats.org/drawingml/2006/main">
            <a:pPr>
              <a:defRPr sz="19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9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开发与验证</a:t>
            </a:r>
          </a:p>
          <a:p xmlns:a="http://schemas.openxmlformats.org/drawingml/2006/main">
            <a:pPr>
              <a:defRPr sz="19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9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↓</a:t>
            </a:r>
          </a:p>
          <a:p xmlns:a="http://schemas.openxmlformats.org/drawingml/2006/main">
            <a:pPr>
              <a:defRPr sz="19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9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kb-curation 去重维护</a:t>
            </a:r>
          </a:p>
        </p:txBody>
      </p:sp>
    </p:spTree>
    <p:extLst>
      <p:ext uri="{BB962C8B-B14F-4D97-AF65-F5344CB8AC3E}">
        <p14:creationId xmlns:p14="http://schemas.microsoft.com/office/powerpoint/2010/main" val="3010570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6282FB-5B83-4D55-8323-1E5919A4C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86CE2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275" b="1">
                <a:solidFill>
                  <a:srgbClr val="286CE2"/>
                </a:solidFill>
                <a:latin typeface="WenQuanYi Zen Hei"/>
                <a:ea typeface="WenQuanYi Zen Hei"/>
                <a:cs typeface="WenQuanYi Zen Hei"/>
              </a:rPr>
              <a:t>CCE-C WORKFLOW  /  DESIGN 3.2.0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63CF90-1943-4DD6-B6F3-A0CBCF8A8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1125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11318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3600" b="1">
                <a:solidFill>
                  <a:srgbClr val="111318"/>
                </a:solidFill>
                <a:latin typeface="WenQuanYi Zen Hei"/>
                <a:ea typeface="WenQuanYi Zen Hei"/>
                <a:cs typeface="WenQuanYi Zen Hei"/>
              </a:rPr>
              <a:t>摄取什么：事实与证据，而不是整篇复制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FF0819-CE06-4D2D-934A-0F18A2D17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33525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875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两种输入可以同时提供；提取成功不等于接口已获板端验证。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E8FA05-650F-4597-9B82-738DD0787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96025"/>
            <a:ext cx="111252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5DA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85C2E4-DAFE-4696-B98A-8E4E091C4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2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Ascend 310P · DaVinci · CCE-C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256395-413E-443D-A98A-A499DFFED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00800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3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49D7E7-52EE-47E1-9AFF-D77B20CA5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90775"/>
            <a:ext cx="523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318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2550" b="1">
                <a:solidFill>
                  <a:srgbClr val="111318"/>
                </a:solidFill>
                <a:latin typeface="WenQuanYi Zen Hei"/>
                <a:ea typeface="WenQuanYi Zen Hei"/>
                <a:cs typeface="WenQuanYi Zen Hei"/>
              </a:rPr>
              <a:t>已有正确算子目录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E4BBBE-198B-486C-8138-46739F54D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33725"/>
            <a:ext cx="52006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2025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提取：接口用法、约束、实现模式</a:t>
            </a:r>
          </a:p>
          <a:p xmlns:a="http://schemas.openxmlformats.org/drawingml/2006/main">
            <a:pPr>
              <a:defRPr sz="2025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2025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保留：源码位置、构建命令、版本</a:t>
            </a:r>
          </a:p>
          <a:p xmlns:a="http://schemas.openxmlformats.org/drawingml/2006/main">
            <a:pPr>
              <a:defRPr sz="2025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2025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核对：精度结果与真实运行记录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AB3751-0701-4D3F-A74C-D038B3CBF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90775"/>
            <a:ext cx="5219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318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2550" b="1">
                <a:solidFill>
                  <a:srgbClr val="111318"/>
                </a:solidFill>
                <a:latin typeface="WenQuanYi Zen Hei"/>
                <a:ea typeface="WenQuanYi Zen Hei"/>
                <a:cs typeface="WenQuanYi Zen Hei"/>
              </a:rPr>
              <a:t>接口文档 PDF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B00B3F-807D-4F4B-9982-6F2BFDF92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33725"/>
            <a:ext cx="521970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2025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提取：签名、参数含义、适用条件</a:t>
            </a:r>
          </a:p>
          <a:p xmlns:a="http://schemas.openxmlformats.org/drawingml/2006/main">
            <a:pPr>
              <a:defRPr sz="2025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2025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保留：文档版本、页码、产品范围</a:t>
            </a:r>
          </a:p>
          <a:p xmlns:a="http://schemas.openxmlformats.org/drawingml/2006/main">
            <a:pPr>
              <a:defRPr sz="2025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2025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核对：是否适用于当前 310P 环境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976713-F01C-4E22-955B-59D1783EB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95875"/>
            <a:ext cx="111252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5DAE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625A89-01B7-412B-B318-F3FA0777B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00675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86CE2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2100" b="1">
                <a:solidFill>
                  <a:srgbClr val="286CE2"/>
                </a:solidFill>
                <a:latin typeface="WenQuanYi Zen Hei"/>
                <a:ea typeface="WenQuanYi Zen Hei"/>
                <a:cs typeface="WenQuanYi Zen Hei"/>
              </a:rPr>
              <a:t>证据不足或来源冲突 → 保留候选 / 隔离，不作为代码生成依据。</a:t>
            </a:r>
          </a:p>
        </p:txBody>
      </p:sp>
    </p:spTree>
    <p:extLst>
      <p:ext uri="{BB962C8B-B14F-4D97-AF65-F5344CB8AC3E}">
        <p14:creationId xmlns:p14="http://schemas.microsoft.com/office/powerpoint/2010/main" val="165051151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A8B6E6F-421C-4325-AE45-DC6C8364C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86CE2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275" b="1">
                <a:solidFill>
                  <a:srgbClr val="286CE2"/>
                </a:solidFill>
                <a:latin typeface="WenQuanYi Zen Hei"/>
                <a:ea typeface="WenQuanYi Zen Hei"/>
                <a:cs typeface="WenQuanYi Zen Hei"/>
              </a:rPr>
              <a:t>CCE-C WORKFLOW  /  DESIGN 3.2.0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84018A-3AC5-4A90-B4C7-6AC063366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1125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11318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3600" b="1">
                <a:solidFill>
                  <a:srgbClr val="111318"/>
                </a:solidFill>
                <a:latin typeface="WenQuanYi Zen Hei"/>
                <a:ea typeface="WenQuanYi Zen Hei"/>
                <a:cs typeface="WenQuanYi Zen Hei"/>
              </a:rPr>
              <a:t>知识去重：不是每次都新增卡片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8D173A-A241-4A96-B0B5-73BFD2718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33525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875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先比较事实和适用范围，再记录处理决定。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F89428-9522-4A18-A43F-AB7D0CBC7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96025"/>
            <a:ext cx="111252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5DA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66E5E5-C7B6-4C0A-8CBE-46C36324C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2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Ascend 310P · DaVinci · CCE-C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018BEF-285E-46CA-9EEE-9B64C4009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00800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3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D68A83-FA1F-4B6C-B076-3A674D7AD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90750"/>
            <a:ext cx="11125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65CC82-CC00-4D3E-BFAC-A6130F6E5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0"/>
            <a:ext cx="111252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5DAE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D01101-E805-4980-B22C-5F0E53ACF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52675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318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875" b="1">
                <a:solidFill>
                  <a:srgbClr val="111318"/>
                </a:solidFill>
                <a:latin typeface="WenQuanYi Zen Hei"/>
                <a:ea typeface="WenQuanYi Zen Hei"/>
                <a:cs typeface="WenQuanYi Zen Hei"/>
              </a:rPr>
              <a:t>决定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9FE4D3-0533-4076-9B03-7CD5ACA32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52675"/>
            <a:ext cx="4019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318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875" b="1">
                <a:solidFill>
                  <a:srgbClr val="111318"/>
                </a:solidFill>
                <a:latin typeface="WenQuanYi Zen Hei"/>
                <a:ea typeface="WenQuanYi Zen Hei"/>
                <a:cs typeface="WenQuanYi Zen Hei"/>
              </a:rPr>
              <a:t>什么时候用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B8A171-53E8-47B4-8309-CA0AF7550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352675"/>
            <a:ext cx="3924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318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875" b="1">
                <a:solidFill>
                  <a:srgbClr val="111318"/>
                </a:solidFill>
                <a:latin typeface="WenQuanYi Zen Hei"/>
                <a:ea typeface="WenQuanYi Zen Hei"/>
                <a:cs typeface="WenQuanYi Zen Hei"/>
              </a:rPr>
              <a:t>结果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D99070-F45D-4C91-BE87-1C6CA1876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0"/>
            <a:ext cx="111252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5DAE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2591DE-F26D-4F7A-94F0-ECB194EE0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19425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8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SKIP / 跳过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4EFC31-7B5D-4269-96D4-65EB9DC3C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19425"/>
            <a:ext cx="4019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8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已有知识覆盖，无新增价值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A8F4A7-5A70-4471-B72B-B50B72D54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019425"/>
            <a:ext cx="3924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8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不新增卡片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C36328-DFCC-4081-A97C-E40E99528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0"/>
            <a:ext cx="111252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5DAE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5222EA-A812-44DD-903F-71BCDABF0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86175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8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MERGE / 合并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7DDE04-901B-4083-8FE4-9609C0E3F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686175"/>
            <a:ext cx="4019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8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同一范围，补充证据或修正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92DCD9-CB09-4895-AD68-7304E3D82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686175"/>
            <a:ext cx="3924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8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更新原卡，保留 ID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B92406-E23B-445E-A613-EE5B7955F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0"/>
            <a:ext cx="111252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5DAE1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C99237-387B-462C-B79B-47C4CC9CA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52925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8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ADD / 新增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ECF87B-4A0A-4269-9D39-240761A87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352925"/>
            <a:ext cx="4019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8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新事实，或需区分版本与条件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966E30-484E-4269-AB04-6E051C773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352925"/>
            <a:ext cx="3924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8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建立独立知识卡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846F1D-E58D-4E44-B18A-CB7BDD66C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111252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5DAE1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12D149-CD93-438F-B2FE-CD64C6553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9675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8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QUARANTINE / 隔离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4A19FF-3E67-43A9-8012-40C65613C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019675"/>
            <a:ext cx="4019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8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证据不足或内容冲突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E5DEB3-B078-43E6-890E-C3ABA836F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019675"/>
            <a:ext cx="3924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8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不进入代码生成依据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3A0FD0-7F8A-4CEB-9163-25D19DCD6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5950"/>
            <a:ext cx="1112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8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工具拦截完全重复；近义表述仍由 Agent 判断，不按相似度自动删除。</a:t>
            </a:r>
          </a:p>
        </p:txBody>
      </p:sp>
    </p:spTree>
    <p:extLst>
      <p:ext uri="{BB962C8B-B14F-4D97-AF65-F5344CB8AC3E}">
        <p14:creationId xmlns:p14="http://schemas.microsoft.com/office/powerpoint/2010/main" val="139612371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F2FB13-ABD7-4F18-B225-70CEDACCA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86CE2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275" b="1">
                <a:solidFill>
                  <a:srgbClr val="286CE2"/>
                </a:solidFill>
                <a:latin typeface="WenQuanYi Zen Hei"/>
                <a:ea typeface="WenQuanYi Zen Hei"/>
                <a:cs typeface="WenQuanYi Zen Hei"/>
              </a:rPr>
              <a:t>CCE-C WORKFLOW  /  DESIGN 3.2.0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32A71E-EB55-4420-B80C-D080035DB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1125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11318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3600" b="1">
                <a:solidFill>
                  <a:srgbClr val="111318"/>
                </a:solidFill>
                <a:latin typeface="WenQuanYi Zen Hei"/>
                <a:ea typeface="WenQuanYi Zen Hei"/>
                <a:cs typeface="WenQuanYi Zen Hei"/>
              </a:rPr>
              <a:t>证据门禁：报告必须对应本次真实文件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105555-58D3-4070-9FF6-FFEFAF1F3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33525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875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3.2.0 校验 run_id、文件存在性与 SHA-256，防止串用或过期报告。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71DECE-A200-4AD5-86AD-E04A52DF0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96025"/>
            <a:ext cx="111252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5DA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9F8853-DA05-4BBE-BEFF-D66C7ADD9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2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Ascend 310P · DaVinci · CCE-C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B249A5-EFFA-4749-89CA-2B13B998A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00800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3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B3FF36-D27E-40DB-AD8E-B1D3242CF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47900"/>
            <a:ext cx="33337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5DAE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A12F70-0898-4E3B-809C-83BC499DD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3840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86CE2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2550" b="1">
                <a:solidFill>
                  <a:srgbClr val="286CE2"/>
                </a:solidFill>
                <a:latin typeface="WenQuanYi Zen Hei"/>
                <a:ea typeface="WenQuanYi Zen Hei"/>
                <a:cs typeface="WenQuanYi Zen He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C0FFAA-91BF-49C8-9992-A0DC6BF92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76575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11318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2400" b="1">
                <a:solidFill>
                  <a:srgbClr val="111318"/>
                </a:solidFill>
                <a:latin typeface="WenQuanYi Zen Hei"/>
                <a:ea typeface="WenQuanYi Zen Hei"/>
                <a:cs typeface="WenQuanYi Zen Hei"/>
              </a:rPr>
              <a:t>构建 BUILD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F0A061-D040-48BB-BF89-E3A2394BC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62375"/>
            <a:ext cx="3333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9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实际编译命令与日志</a:t>
            </a:r>
          </a:p>
          <a:p xmlns:a="http://schemas.openxmlformats.org/drawingml/2006/main">
            <a:pPr>
              <a:defRPr sz="19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9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对应本轮源码和输出</a:t>
            </a:r>
          </a:p>
          <a:p xmlns:a="http://schemas.openxmlformats.org/drawingml/2006/main">
            <a:pPr>
              <a:defRPr sz="19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9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通过后进入精度验证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DB7F7A-6971-4A65-8BEF-AEEB66F67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47900"/>
            <a:ext cx="33337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5DAE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4DC747-45FC-4743-A1F2-8E996F5BC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43840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86CE2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2550" b="1">
                <a:solidFill>
                  <a:srgbClr val="286CE2"/>
                </a:solidFill>
                <a:latin typeface="WenQuanYi Zen Hei"/>
                <a:ea typeface="WenQuanYi Zen Hei"/>
                <a:cs typeface="WenQuanYi Zen He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A6A932-DB49-41BF-8FCB-C1971714C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076575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11318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2400" b="1">
                <a:solidFill>
                  <a:srgbClr val="111318"/>
                </a:solidFill>
                <a:latin typeface="WenQuanYi Zen Hei"/>
                <a:ea typeface="WenQuanYi Zen Hei"/>
                <a:cs typeface="WenQuanYi Zen Hei"/>
              </a:rPr>
              <a:t>精度 ACCURACY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CBD90A-07CB-407C-B817-482D253AB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762375"/>
            <a:ext cx="3333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9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真实用例、误差和结果</a:t>
            </a:r>
          </a:p>
          <a:p xmlns:a="http://schemas.openxmlformats.org/drawingml/2006/main">
            <a:pPr>
              <a:defRPr sz="19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9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对应当前构建版本</a:t>
            </a:r>
          </a:p>
          <a:p xmlns:a="http://schemas.openxmlformats.org/drawingml/2006/main">
            <a:pPr>
              <a:defRPr sz="19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9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通过后才评估性能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384C6F-22BC-41E1-A2BD-A5320389C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247900"/>
            <a:ext cx="33337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5DAE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317D7E-E504-4564-8791-13FA8A98B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3840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86CE2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2550" b="1">
                <a:solidFill>
                  <a:srgbClr val="286CE2"/>
                </a:solidFill>
                <a:latin typeface="WenQuanYi Zen Hei"/>
                <a:ea typeface="WenQuanYi Zen Hei"/>
                <a:cs typeface="WenQuanYi Zen Hei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0267E6-EFA4-40E8-B4F9-3A845F31F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076575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11318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2400" b="1">
                <a:solidFill>
                  <a:srgbClr val="111318"/>
                </a:solidFill>
                <a:latin typeface="WenQuanYi Zen Hei"/>
                <a:ea typeface="WenQuanYi Zen Hei"/>
                <a:cs typeface="WenQuanYi Zen Hei"/>
              </a:rPr>
              <a:t>性能 PROFILE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AF2E34-C197-4D7E-8C68-EA4D619D5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762375"/>
            <a:ext cx="3333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9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真实测量与对比条件</a:t>
            </a:r>
          </a:p>
          <a:p xmlns:a="http://schemas.openxmlformats.org/drawingml/2006/main">
            <a:pPr>
              <a:defRPr sz="19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9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记录数据，不编造提速</a:t>
            </a:r>
          </a:p>
          <a:p xmlns:a="http://schemas.openxmlformats.org/drawingml/2006/main">
            <a:pPr>
              <a:defRPr sz="19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9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形成保留或回退依据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027DA4-2718-49B1-8495-2C67AB5BE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24525"/>
            <a:ext cx="11125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86CE2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800" b="1">
                <a:solidFill>
                  <a:srgbClr val="286CE2"/>
                </a:solidFill>
                <a:latin typeface="WenQuanYi Zen Hei"/>
                <a:ea typeface="WenQuanYi Zen Hei"/>
                <a:cs typeface="WenQuanYi Zen Hei"/>
              </a:rPr>
              <a:t>注意：哈希证明文件是否变化，不证明日志内容或结论本身真实。</a:t>
            </a:r>
          </a:p>
        </p:txBody>
      </p:sp>
    </p:spTree>
    <p:extLst>
      <p:ext uri="{BB962C8B-B14F-4D97-AF65-F5344CB8AC3E}">
        <p14:creationId xmlns:p14="http://schemas.microsoft.com/office/powerpoint/2010/main" val="212620252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21C289-8B6B-4FCF-9D60-5EA2C7840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86CE2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275" b="1">
                <a:solidFill>
                  <a:srgbClr val="286CE2"/>
                </a:solidFill>
                <a:latin typeface="WenQuanYi Zen Hei"/>
                <a:ea typeface="WenQuanYi Zen Hei"/>
                <a:cs typeface="WenQuanYi Zen Hei"/>
              </a:rPr>
              <a:t>CCE-C WORKFLOW  /  DESIGN 3.2.0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29A047-924C-4827-B079-974FEDE59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1125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11318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3600" b="1">
                <a:solidFill>
                  <a:srgbClr val="111318"/>
                </a:solidFill>
                <a:latin typeface="WenQuanYi Zen Hei"/>
                <a:ea typeface="WenQuanYi Zen Hei"/>
                <a:cs typeface="WenQuanYi Zen Hei"/>
              </a:rPr>
              <a:t>优化回滚：代码与证据必须一起回退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BEE63D-C008-4036-8A13-AF4BFDB78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33525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875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每轮保留已接受版本和候选版本；候选必须重新构建、验精度、测性能。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700871-659C-4B04-AE3E-6A5D2F838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96025"/>
            <a:ext cx="111252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5DA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02656C-1EE3-4238-A80A-783E30953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2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Ascend 310P · DaVinci · CCE-C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8B64DD-663D-49A5-8AF0-FD2B96D30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00800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3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EC2F21-7783-48AB-A19D-7F139A3FD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05050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11318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2475" b="1">
                <a:solidFill>
                  <a:srgbClr val="111318"/>
                </a:solidFill>
                <a:latin typeface="WenQuanYi Zen Hei"/>
                <a:ea typeface="WenQuanYi Zen Hei"/>
                <a:cs typeface="WenQuanYi Zen Hei"/>
              </a:rPr>
              <a:t>一次优化的完整闭环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455082-2DDD-4662-B259-8233B34A8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95625"/>
            <a:ext cx="5457825" cy="2257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2025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1. 保存已接受版本的明确文件清单</a:t>
            </a:r>
          </a:p>
          <a:p xmlns:a="http://schemas.openxmlformats.org/drawingml/2006/main">
            <a:pPr>
              <a:defRPr sz="2025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2025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2. 生成候选，并保存候选证据</a:t>
            </a:r>
          </a:p>
          <a:p xmlns:a="http://schemas.openxmlformats.org/drawingml/2006/main">
            <a:pPr>
              <a:defRPr sz="2025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2025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3. 重跑构建、精度与性能对比</a:t>
            </a:r>
          </a:p>
          <a:p xmlns:a="http://schemas.openxmlformats.org/drawingml/2006/main">
            <a:pPr>
              <a:defRPr sz="2025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2025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4. KEEP 保留，或 REVERT 恢复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A88D49-04A1-42F1-B11C-BCBE149E4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305050"/>
            <a:ext cx="49720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62DAA8-F421-4B5F-BE48-884638E42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571750"/>
            <a:ext cx="447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11318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2250" b="1">
                <a:solidFill>
                  <a:srgbClr val="111318"/>
                </a:solidFill>
                <a:latin typeface="WenQuanYi Zen Hei"/>
                <a:ea typeface="WenQuanYi Zen Hei"/>
                <a:cs typeface="WenQuanYi Zen Hei"/>
              </a:rPr>
              <a:t>回退恢复的是一组对应关系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574BC3-1D03-459F-854E-4CFF8B30F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476625"/>
            <a:ext cx="4476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86CE2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2325" b="1">
                <a:solidFill>
                  <a:srgbClr val="286CE2"/>
                </a:solidFill>
                <a:latin typeface="WenQuanYi Zen Hei"/>
                <a:ea typeface="WenQuanYi Zen Hei"/>
                <a:cs typeface="WenQuanYi Zen Hei"/>
              </a:rPr>
              <a:t>源码  +  设计  +  验证报告</a:t>
            </a:r>
          </a:p>
          <a:p xmlns:a="http://schemas.openxmlformats.org/drawingml/2006/main">
            <a:pPr>
              <a:defRPr sz="2325" b="1">
                <a:solidFill>
                  <a:srgbClr val="286CE2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2325" b="1">
                <a:solidFill>
                  <a:srgbClr val="286CE2"/>
                </a:solidFill>
                <a:latin typeface="WenQuanYi Zen Hei"/>
                <a:ea typeface="WenQuanYi Zen Hei"/>
                <a:cs typeface="WenQuanYi Zen Hei"/>
              </a:rPr>
              <a:t>+ 清单内日志 / 二进制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597E96-7F2F-495D-9A9F-20FACFE2F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838700"/>
            <a:ext cx="447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8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恢复后检查哈希；保留失败候选证据。</a:t>
            </a:r>
          </a:p>
        </p:txBody>
      </p:sp>
    </p:spTree>
    <p:extLst>
      <p:ext uri="{BB962C8B-B14F-4D97-AF65-F5344CB8AC3E}">
        <p14:creationId xmlns:p14="http://schemas.microsoft.com/office/powerpoint/2010/main" val="155229052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849B59-735E-4A67-A1B2-F65F189F6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86CE2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275" b="1">
                <a:solidFill>
                  <a:srgbClr val="286CE2"/>
                </a:solidFill>
                <a:latin typeface="WenQuanYi Zen Hei"/>
                <a:ea typeface="WenQuanYi Zen Hei"/>
                <a:cs typeface="WenQuanYi Zen Hei"/>
              </a:rPr>
              <a:t>CCE-C WORKFLOW  /  DESIGN 3.2.0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0D2055-0B92-4664-82B9-1FD80B6F7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1125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11318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3600" b="1">
                <a:solidFill>
                  <a:srgbClr val="111318"/>
                </a:solidFill>
                <a:latin typeface="WenQuanYi Zen Hei"/>
                <a:ea typeface="WenQuanYi Zen Hei"/>
                <a:cs typeface="WenQuanYi Zen Hei"/>
              </a:rPr>
              <a:t>使用方式：先合并安装，再从主入口调用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2836FC-0E75-483F-9A38-827AE18D1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33525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875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当前版本以算子工程根目录为工作目录；只放嵌套文件夹并贴路径还不够。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16CF20-53E3-4298-B5BA-372F0A162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96025"/>
            <a:ext cx="111252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5DA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66BF7E-4961-4CC5-9014-134692E0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2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Ascend 310P · DaVinci · CCE-C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2E55CE-B2CA-4E3D-9218-7B9D652E1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00800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3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9FE985-180E-4E3C-9038-47A86AE69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47900"/>
            <a:ext cx="33337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5DAE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BB1DA0-DF0F-433B-A5CB-27CA7F697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3840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86CE2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2550" b="1">
                <a:solidFill>
                  <a:srgbClr val="286CE2"/>
                </a:solidFill>
                <a:latin typeface="WenQuanYi Zen Hei"/>
                <a:ea typeface="WenQuanYi Zen Hei"/>
                <a:cs typeface="WenQuanYi Zen He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961178-4B45-4B98-9F49-5D40EAB10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76575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11318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2400" b="1">
                <a:solidFill>
                  <a:srgbClr val="111318"/>
                </a:solidFill>
                <a:latin typeface="WenQuanYi Zen Hei"/>
                <a:ea typeface="WenQuanYi Zen Hei"/>
                <a:cs typeface="WenQuanYi Zen Hei"/>
              </a:rPr>
              <a:t>安装与自检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AC7A31-4174-43E7-9C16-A9F579A1C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62375"/>
            <a:ext cx="3333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9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合并包内 skills、tools、</a:t>
            </a:r>
          </a:p>
          <a:p xmlns:a="http://schemas.openxmlformats.org/drawingml/2006/main">
            <a:pPr>
              <a:defRPr sz="19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9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contracts、knowledge。</a:t>
            </a:r>
          </a:p>
          <a:p xmlns:a="http://schemas.openxmlformats.org/drawingml/2006/main">
            <a:pPr>
              <a:defRPr sz="19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9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保留原有工程规则与知识。</a:t>
            </a:r>
          </a:p>
          <a:p xmlns:a="http://schemas.openxmlformats.org/drawingml/2006/main">
            <a:pPr>
              <a:defRPr sz="19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9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执行 self_check.py。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26CC26-A86A-4FE0-B78C-8E63C35F6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47900"/>
            <a:ext cx="33337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5DAE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BEF882-9537-4CE2-8D15-93F0F1D78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43840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86CE2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2550" b="1">
                <a:solidFill>
                  <a:srgbClr val="286CE2"/>
                </a:solidFill>
                <a:latin typeface="WenQuanYi Zen Hei"/>
                <a:ea typeface="WenQuanYi Zen Hei"/>
                <a:cs typeface="WenQuanYi Zen He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DD9A1D-7D7C-470D-A6E9-943A279C6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076575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11318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2400" b="1">
                <a:solidFill>
                  <a:srgbClr val="111318"/>
                </a:solidFill>
                <a:latin typeface="WenQuanYi Zen Hei"/>
                <a:ea typeface="WenQuanYi Zen Hei"/>
                <a:cs typeface="WenQuanYi Zen Hei"/>
              </a:rPr>
              <a:t>独立初始化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1C7C4C-7BFA-4F08-A4FD-AC8DCCEBF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762375"/>
            <a:ext cx="3333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9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提供正确算子和 / 或 PDF。</a:t>
            </a:r>
          </a:p>
          <a:p xmlns:a="http://schemas.openxmlformats.org/drawingml/2006/main">
            <a:pPr>
              <a:defRPr sz="19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9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单独调用 kb-ingestion。</a:t>
            </a:r>
          </a:p>
          <a:p xmlns:a="http://schemas.openxmlformats.org/drawingml/2006/main">
            <a:pPr>
              <a:defRPr sz="19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9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检查候选、证据与</a:t>
            </a:r>
          </a:p>
          <a:p xmlns:a="http://schemas.openxmlformats.org/drawingml/2006/main">
            <a:pPr>
              <a:defRPr sz="19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9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去重处理报告。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8D0A9F-690E-446D-820B-0AEA2C339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247900"/>
            <a:ext cx="33337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5DAE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0DC6C6-5FBE-4B31-BFFC-BF1AAF189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3840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86CE2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2550" b="1">
                <a:solidFill>
                  <a:srgbClr val="286CE2"/>
                </a:solidFill>
                <a:latin typeface="WenQuanYi Zen Hei"/>
                <a:ea typeface="WenQuanYi Zen Hei"/>
                <a:cs typeface="WenQuanYi Zen Hei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4E08A6-F3F1-4F9B-A80A-522ABB4AA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076575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11318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2400" b="1">
                <a:solidFill>
                  <a:srgbClr val="111318"/>
                </a:solidFill>
                <a:latin typeface="WenQuanYi Zen Hei"/>
                <a:ea typeface="WenQuanYi Zen Hei"/>
                <a:cs typeface="WenQuanYi Zen Hei"/>
              </a:rPr>
              <a:t>日常执行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E23B5A-9D4B-4F24-9604-D1765D588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762375"/>
            <a:ext cx="3333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9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给出主 Skill 地址、</a:t>
            </a:r>
          </a:p>
          <a:p xmlns:a="http://schemas.openxmlformats.org/drawingml/2006/main">
            <a:pPr>
              <a:defRPr sz="19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9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Python 参考与目标目录。</a:t>
            </a:r>
          </a:p>
          <a:p xmlns:a="http://schemas.openxmlformats.org/drawingml/2006/main">
            <a:pPr>
              <a:defRPr sz="19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9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总控完成阶段编排，</a:t>
            </a:r>
          </a:p>
          <a:p xmlns:a="http://schemas.openxmlformats.org/drawingml/2006/main">
            <a:pPr>
              <a:defRPr sz="19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9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最后审计并维护知识。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E31B47-FFD4-4191-8C43-BD27D1EF2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24525"/>
            <a:ext cx="111252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725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Agent 需要支持 Skill、命令执行与 subagent；工具链和 310P 环境需另行具备。</a:t>
            </a:r>
          </a:p>
        </p:txBody>
      </p:sp>
    </p:spTree>
    <p:extLst>
      <p:ext uri="{BB962C8B-B14F-4D97-AF65-F5344CB8AC3E}">
        <p14:creationId xmlns:p14="http://schemas.microsoft.com/office/powerpoint/2010/main" val="91005955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8007C7-F3DA-4A0E-AF1A-74268B48A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86CE2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275" b="1">
                <a:solidFill>
                  <a:srgbClr val="286CE2"/>
                </a:solidFill>
                <a:latin typeface="WenQuanYi Zen Hei"/>
                <a:ea typeface="WenQuanYi Zen Hei"/>
                <a:cs typeface="WenQuanYi Zen Hei"/>
              </a:rPr>
              <a:t>CCE-C WORKFLOW  /  DESIGN 3.2.0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324310-02A0-4DB2-BFF7-6C29BA4D6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1125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11318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3600" b="1">
                <a:solidFill>
                  <a:srgbClr val="111318"/>
                </a:solidFill>
                <a:latin typeface="WenQuanYi Zen Hei"/>
                <a:ea typeface="WenQuanYi Zen Hei"/>
                <a:cs typeface="WenQuanYi Zen Hei"/>
              </a:rPr>
              <a:t>产物在哪里：工程代码与运行记录分开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724016-6667-4A21-B3F4-62A6653F6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33525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875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源码和用例路径先写入 repo_context.json，遵循现有工程布局。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000CFD-98F8-485B-A213-D50D59005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96025"/>
            <a:ext cx="111252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5DA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2E00E5-1E57-4CF4-ADA9-A01354819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2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Ascend 310P · DaVinci · CCE-C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6D4D4E-7274-432E-957B-BDC8278B8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00800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3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5317E8-1555-4F22-8145-CFF086EA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0"/>
            <a:ext cx="11125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DE8A17-0781-4919-8079-5EE7D7CF7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05150"/>
            <a:ext cx="111252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5DAE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CBCE0B-3678-4CE6-80EA-C9DAB0A40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47925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318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875" b="1">
                <a:solidFill>
                  <a:srgbClr val="111318"/>
                </a:solidFill>
                <a:latin typeface="WenQuanYi Zen Hei"/>
                <a:ea typeface="WenQuanYi Zen Hei"/>
                <a:cs typeface="WenQuanYi Zen Hei"/>
              </a:rPr>
              <a:t>产物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9EC493-485C-413F-8864-3334CC377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447925"/>
            <a:ext cx="4019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318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875" b="1">
                <a:solidFill>
                  <a:srgbClr val="111318"/>
                </a:solidFill>
                <a:latin typeface="WenQuanYi Zen Hei"/>
                <a:ea typeface="WenQuanYi Zen Hei"/>
                <a:cs typeface="WenQuanYi Zen Hei"/>
              </a:rPr>
              <a:t>位置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419597-E4B8-4379-B72E-0E0D1D126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447925"/>
            <a:ext cx="3924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318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875" b="1">
                <a:solidFill>
                  <a:srgbClr val="111318"/>
                </a:solidFill>
                <a:latin typeface="WenQuanYi Zen Hei"/>
                <a:ea typeface="WenQuanYi Zen Hei"/>
                <a:cs typeface="WenQuanYi Zen Hei"/>
              </a:rPr>
              <a:t>用途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C51701-8A8B-487B-A6F1-C13DDD79A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24300"/>
            <a:ext cx="111252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5DAE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D5F022-0919-482C-ACBB-C55ED5408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67075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8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算子源码 / 测试用例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8E16E9-D0EA-4ED5-9375-F10E081E0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267075"/>
            <a:ext cx="4019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8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工程对应的算子目录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336FEC-39CA-4670-912B-D33476179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67075"/>
            <a:ext cx="3924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8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用于构建、注册和执行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B171F3-711C-40BA-8168-94FB2DE29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43450"/>
            <a:ext cx="111252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5DAE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6639CA-CC39-4D06-99CC-A8BA56025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86225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8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报告 / 日志 / 优化记录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FB5E47-8B97-4459-9E9B-20B49856E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086225"/>
            <a:ext cx="4019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8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.operator-agent/runs/&lt;run_id&gt;/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36A4C2-360A-4143-A9CD-BEA7142D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86225"/>
            <a:ext cx="3924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8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本次任务证据与执行状态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D66B82-B817-460B-BC98-BF15B9D32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62600"/>
            <a:ext cx="111252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5DAE1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9679EB-BDF9-4B7B-B361-A8EA5E3F5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05375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8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知识卡 / 检索索引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F8F3A4-D798-41DF-B3B6-E61800114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905375"/>
            <a:ext cx="4019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8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knowledge/ 与 kb.sqlite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24F750-A656-427E-9D9D-FD422EF9B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905375"/>
            <a:ext cx="3924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8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长期知识与可重建索引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109445-0E72-4502-ADB6-CF0087743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81675"/>
            <a:ext cx="11125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86CE2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800" b="1">
                <a:solidFill>
                  <a:srgbClr val="286CE2"/>
                </a:solidFill>
                <a:latin typeface="WenQuanYi Zen Hei"/>
                <a:ea typeface="WenQuanYi Zen Hei"/>
                <a:cs typeface="WenQuanYi Zen Hei"/>
              </a:rPr>
              <a:t>先看 release_report.json：PASS、FAIL、BLOCKED、NOT_RUN 各有明确含义。</a:t>
            </a:r>
          </a:p>
        </p:txBody>
      </p:sp>
    </p:spTree>
    <p:extLst>
      <p:ext uri="{BB962C8B-B14F-4D97-AF65-F5344CB8AC3E}">
        <p14:creationId xmlns:p14="http://schemas.microsoft.com/office/powerpoint/2010/main" val="23615994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A5AE0C-0E3C-43EC-86CC-2C0E92366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86CE2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275" b="1">
                <a:solidFill>
                  <a:srgbClr val="286CE2"/>
                </a:solidFill>
                <a:latin typeface="WenQuanYi Zen Hei"/>
                <a:ea typeface="WenQuanYi Zen Hei"/>
                <a:cs typeface="WenQuanYi Zen Hei"/>
              </a:rPr>
              <a:t>CCE-C WORKFLOW  /  DESIGN 3.2.0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D73B70-5BC4-4283-8932-E8D2935BC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1125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11318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3600" b="1">
                <a:solidFill>
                  <a:srgbClr val="111318"/>
                </a:solidFill>
                <a:latin typeface="WenQuanYi Zen Hei"/>
                <a:ea typeface="WenQuanYi Zen Hei"/>
                <a:cs typeface="WenQuanYi Zen Hei"/>
              </a:rPr>
              <a:t>示例：从一个简单算子走完整闭环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7EC5C4-C61E-4363-ADB2-AEF519328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33525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875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示意任务 y = x × x + 1；此页不是已完成的算子或实测性能结果。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6C36C3-B833-44EE-B5D5-1D9C6CFAB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96025"/>
            <a:ext cx="111252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5DA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42E7E8-DEA5-42E4-ADE7-C66F8000A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2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Ascend 310P · DaVinci · CCE-C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853F3D-0D72-4E45-8859-EEE8BD7CE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00800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3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C6681C-399D-454B-B717-93887CD15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00275"/>
            <a:ext cx="11125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147A7F-4EC4-4B5F-9772-790AA97A0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05125"/>
            <a:ext cx="111252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5DAE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44948D-ACE0-47C1-A9CC-A3E243BF7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20669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318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875" b="1">
                <a:solidFill>
                  <a:srgbClr val="111318"/>
                </a:solidFill>
                <a:latin typeface="WenQuanYi Zen Hei"/>
                <a:ea typeface="WenQuanYi Zen Hei"/>
                <a:cs typeface="WenQuanYi Zen Hei"/>
              </a:rPr>
              <a:t>阶段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B5A524-C6D2-4E5F-9388-CDB736A79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362200"/>
            <a:ext cx="4429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318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875" b="1">
                <a:solidFill>
                  <a:srgbClr val="111318"/>
                </a:solidFill>
                <a:latin typeface="WenQuanYi Zen Hei"/>
                <a:ea typeface="WenQuanYi Zen Hei"/>
                <a:cs typeface="WenQuanYi Zen Hei"/>
              </a:rPr>
              <a:t>需要明确的问题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658AD6-9E03-4BAE-A08F-4EEC50880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362200"/>
            <a:ext cx="3829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318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875" b="1">
                <a:solidFill>
                  <a:srgbClr val="111318"/>
                </a:solidFill>
                <a:latin typeface="WenQuanYi Zen Hei"/>
                <a:ea typeface="WenQuanYi Zen Hei"/>
                <a:cs typeface="WenQuanYi Zen Hei"/>
              </a:rPr>
              <a:t>应看到的产物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F715E9-DC2D-402E-B915-08C1E2EE9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09975"/>
            <a:ext cx="111252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5DAE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1F9571-6E91-4B16-B3E9-D164A893A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67050"/>
            <a:ext cx="20669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8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输入与语义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DF64C5-4649-476E-8F14-0743CDCB9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067050"/>
            <a:ext cx="4429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8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dtype、shape、误差、边界输入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20E5F4-BC86-4C6F-8CBD-04B9B675F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067050"/>
            <a:ext cx="3829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8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语义说明与测试计划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72B29F-8C88-4B8D-9F42-95EECC9A8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14825"/>
            <a:ext cx="111252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5DAE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5BF557-CBF0-48D2-92CC-6BB2FA4D1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71900"/>
            <a:ext cx="20669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8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设计与开发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970FD5-692C-4F75-AB88-DD2132324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771900"/>
            <a:ext cx="4429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8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分块、搬运、计算、同步条件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282569-9C38-4A68-9A79-9E93AB561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771900"/>
            <a:ext cx="3829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8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有依据的设计与 .cce 源码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5BF55F-0583-4274-A419-127335CF5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19675"/>
            <a:ext cx="111252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5DAE1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133F21-856F-486D-B07C-62401FDC6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20669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8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验证与优化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043815-B735-4A3A-96DC-C7878E179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476750"/>
            <a:ext cx="4429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8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能编译？精度对？测量有收益？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799503-5A39-42D1-B2E0-08463AF5B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476750"/>
            <a:ext cx="3829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8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本轮构建、精度、性能记录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30E840-2C65-49E7-B903-8A95E8A32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24525"/>
            <a:ext cx="111252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5DAE1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3329F1-CE4B-4878-A620-EE5212125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81600"/>
            <a:ext cx="20669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8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审计与维护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089A45-8F1B-4749-99C1-5CA7CAF49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181600"/>
            <a:ext cx="4429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8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交付范围？哪些经验可复用？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30FFD1-398A-4541-99B3-393485A47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181600"/>
            <a:ext cx="3829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8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发布报告与去重后的知识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236B5E9-771C-4818-AB6F-86FEDC995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38825"/>
            <a:ext cx="11125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8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缺少硬件时停在证据边界：允许交付设计，不允许声称板端验证通过。</a:t>
            </a:r>
          </a:p>
        </p:txBody>
      </p:sp>
    </p:spTree>
    <p:extLst>
      <p:ext uri="{BB962C8B-B14F-4D97-AF65-F5344CB8AC3E}">
        <p14:creationId xmlns:p14="http://schemas.microsoft.com/office/powerpoint/2010/main" val="208288039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219FBE-9F14-4798-8B3F-624BE1B23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86CE2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275" b="1">
                <a:solidFill>
                  <a:srgbClr val="286CE2"/>
                </a:solidFill>
                <a:latin typeface="WenQuanYi Zen Hei"/>
                <a:ea typeface="WenQuanYi Zen Hei"/>
                <a:cs typeface="WenQuanYi Zen Hei"/>
              </a:rPr>
              <a:t>CCE-C WORKFLOW  /  DESIGN 3.2.0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243A7D-EBAF-4B88-B656-F3B1C4031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1125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11318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3600" b="1">
                <a:solidFill>
                  <a:srgbClr val="111318"/>
                </a:solidFill>
                <a:latin typeface="WenQuanYi Zen Hei"/>
                <a:ea typeface="WenQuanYi Zen Hei"/>
                <a:cs typeface="WenQuanYi Zen Hei"/>
              </a:rPr>
              <a:t>3.2.0 更新了什么，验证到了哪里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ACEDB8-DE63-49CB-92E0-B8F65991C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33525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875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区分“流程工具通过检查”和“算子在硬件上通过验证”。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4C9373-D2B8-4D74-B60A-C3118A52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96025"/>
            <a:ext cx="111252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5DA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6A0C10-AAAB-4CFB-9984-F0F8BEC95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2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Ascend 310P · DaVinci · CCE-C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11E88E-41E1-4D1A-8BD3-96B6F973B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00800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3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3639F4-E397-44E2-8224-F1BEE5642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33625"/>
            <a:ext cx="53054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11318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2475" b="1">
                <a:solidFill>
                  <a:srgbClr val="111318"/>
                </a:solidFill>
                <a:latin typeface="WenQuanYi Zen Hei"/>
                <a:ea typeface="WenQuanYi Zen Hei"/>
                <a:cs typeface="WenQuanYi Zen Hei"/>
              </a:rPr>
              <a:t>本版强化的四个环节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65D29D-4CC3-4AE4-8CC8-973869AFC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24200"/>
            <a:ext cx="5334000" cy="2200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21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报告绑定真实文件与本次运行</a:t>
            </a:r>
          </a:p>
          <a:p xmlns:a="http://schemas.openxmlformats.org/drawingml/2006/main">
            <a:pPr>
              <a:defRPr sz="21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21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去重检查跨 ID 的重复事实</a:t>
            </a:r>
          </a:p>
          <a:p xmlns:a="http://schemas.openxmlformats.org/drawingml/2006/main">
            <a:pPr>
              <a:defRPr sz="21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21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生产检索要求具体环境版本</a:t>
            </a:r>
          </a:p>
          <a:p xmlns:a="http://schemas.openxmlformats.org/drawingml/2006/main">
            <a:pPr>
              <a:defRPr sz="21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21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优化回退保持代码与证据一致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86DB56-84B8-41FA-9A59-615C7E317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305050"/>
            <a:ext cx="5076825" cy="3324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1A7060-7E38-4FAC-85E8-CDA346CF4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562225"/>
            <a:ext cx="45624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86CE2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2400" b="1">
                <a:solidFill>
                  <a:srgbClr val="286CE2"/>
                </a:solidFill>
                <a:latin typeface="WenQuanYi Zen Hei"/>
                <a:ea typeface="WenQuanYi Zen Hei"/>
                <a:cs typeface="WenQuanYi Zen Hei"/>
              </a:rPr>
              <a:t>已完成离线检查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A91996-2654-4A93-9948-344BDC25F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3276600"/>
            <a:ext cx="45339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11318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2175" b="1">
                <a:solidFill>
                  <a:srgbClr val="111318"/>
                </a:solidFill>
                <a:latin typeface="WenQuanYi Zen Hei"/>
                <a:ea typeface="WenQuanYi Zen Hei"/>
                <a:cs typeface="WenQuanYi Zen Hei"/>
              </a:rPr>
              <a:t>16 个 Skill 格式校验</a:t>
            </a:r>
          </a:p>
          <a:p xmlns:a="http://schemas.openxmlformats.org/drawingml/2006/main">
            <a:pPr>
              <a:defRPr sz="2175" b="1">
                <a:solidFill>
                  <a:srgbClr val="111318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2175" b="1">
                <a:solidFill>
                  <a:srgbClr val="111318"/>
                </a:solidFill>
                <a:latin typeface="WenQuanYi Zen Hei"/>
                <a:ea typeface="WenQuanYi Zen Hei"/>
                <a:cs typeface="WenQuanYi Zen Hei"/>
              </a:rPr>
              <a:t>11 项行为测试与包自检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1C0B5A-A63B-46EB-B993-99AE99742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4438650"/>
            <a:ext cx="45339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5DAE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460A04-F706-4626-B297-D819D0767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4695825"/>
            <a:ext cx="45339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8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尚未完成真实 310P 编译与板端运行。</a:t>
            </a:r>
          </a:p>
          <a:p xmlns:a="http://schemas.openxmlformats.org/drawingml/2006/main">
            <a:pPr>
              <a:defRPr sz="18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8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未提供真实性能提升数据。</a:t>
            </a:r>
          </a:p>
        </p:txBody>
      </p:sp>
    </p:spTree>
    <p:extLst>
      <p:ext uri="{BB962C8B-B14F-4D97-AF65-F5344CB8AC3E}">
        <p14:creationId xmlns:p14="http://schemas.microsoft.com/office/powerpoint/2010/main" val="185807442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ECA382-2A69-442F-9462-39267E567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86CE2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275" b="1">
                <a:solidFill>
                  <a:srgbClr val="286CE2"/>
                </a:solidFill>
                <a:latin typeface="WenQuanYi Zen Hei"/>
                <a:ea typeface="WenQuanYi Zen Hei"/>
                <a:cs typeface="WenQuanYi Zen Hei"/>
              </a:rPr>
              <a:t>CCE-C WORKFLOW  /  DESIGN 3.2.0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43AFD8-52D9-469B-967C-9C5FF79FC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1125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11318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3600" b="1">
                <a:solidFill>
                  <a:srgbClr val="111318"/>
                </a:solidFill>
                <a:latin typeface="WenQuanYi Zen Hei"/>
                <a:ea typeface="WenQuanYi Zen Hei"/>
                <a:cs typeface="WenQuanYi Zen Hei"/>
              </a:rPr>
              <a:t>参考资料：实现依据与相关研究分开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679A6C-10CE-403A-9A35-485E1798D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33525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875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工程规则以本项目契约与当前环境证据为准；论文只作相关思路阅读。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E3768E-93CA-45E7-AB26-7A63DEB1F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96025"/>
            <a:ext cx="111252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5DA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AD4377-5AAD-4CEF-944E-FF596028D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2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Ascend 310P · DaVinci · CCE-C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321D4A-F431-42B7-A592-48C86CBB0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00800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3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085DEB-0746-4541-AC73-C2CFFB4FD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76475"/>
            <a:ext cx="11125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11318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2250" b="1">
                <a:solidFill>
                  <a:srgbClr val="111318"/>
                </a:solidFill>
                <a:latin typeface="WenQuanYi Zen Hei"/>
                <a:ea typeface="WenQuanYi Zen Hei"/>
                <a:cs typeface="WenQuanYi Zen Hei"/>
              </a:rPr>
              <a:t>01  项目实现依据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14889E-B3F3-4C97-9C5A-56F9B799C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38450"/>
            <a:ext cx="111252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875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CCE_SKILL 3.2.0：中文使用说明、Skill 与 contracts</a:t>
            </a:r>
          </a:p>
          <a:p xmlns:a="http://schemas.openxmlformats.org/drawingml/2006/main">
            <a:pPr>
              <a:defRPr sz="1875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875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固定版本：72662e7 · github.com/chao-shu/CCE_SKILL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92EFFB-12BD-4757-B587-43045BE3B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62375"/>
            <a:ext cx="111252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5DAE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87B1CF-02A7-48DB-96E3-26F8AECB0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90975"/>
            <a:ext cx="11125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11318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2250" b="1">
                <a:solidFill>
                  <a:srgbClr val="111318"/>
                </a:solidFill>
                <a:latin typeface="WenQuanYi Zen Hei"/>
                <a:ea typeface="WenQuanYi Zen Hei"/>
                <a:cs typeface="WenQuanYi Zen Hei"/>
              </a:rPr>
              <a:t>02  相关研究，不等于本项目采用其算法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940FC9-3FA3-40E8-AAE0-282F53B35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10100"/>
            <a:ext cx="111252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875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ReAct · Yao et al., 2023：交替推理与行动 · arXiv:2210.03629</a:t>
            </a:r>
          </a:p>
          <a:p xmlns:a="http://schemas.openxmlformats.org/drawingml/2006/main">
            <a:pPr>
              <a:defRPr sz="1875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875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Reflexion · Shinn et al., 2023：利用反馈与文本记忆 · arXiv:2303.11366</a:t>
            </a:r>
          </a:p>
        </p:txBody>
      </p:sp>
    </p:spTree>
    <p:extLst>
      <p:ext uri="{BB962C8B-B14F-4D97-AF65-F5344CB8AC3E}">
        <p14:creationId xmlns:p14="http://schemas.microsoft.com/office/powerpoint/2010/main" val="153005070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3962AF-62A5-495B-857E-D564B5075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86CE2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275" b="1">
                <a:solidFill>
                  <a:srgbClr val="286CE2"/>
                </a:solidFill>
                <a:latin typeface="WenQuanYi Zen Hei"/>
                <a:ea typeface="WenQuanYi Zen Hei"/>
                <a:cs typeface="WenQuanYi Zen Hei"/>
              </a:rPr>
              <a:t>CCE-C WORKFLOW  /  DESIGN 3.2.0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426058-449E-4FA4-9B91-BA03A6436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1125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11318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3600" b="1">
                <a:solidFill>
                  <a:srgbClr val="111318"/>
                </a:solidFill>
                <a:latin typeface="WenQuanYi Zen Hei"/>
                <a:ea typeface="WenQuanYi Zen Hei"/>
                <a:cs typeface="WenQuanYi Zen Hei"/>
              </a:rPr>
              <a:t>下一步：用一个真实算子完成验收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8207E0-4C6E-42E7-B779-21DAF8085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33525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875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先证明闭环可用，再逐步扩展算子覆盖。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9796E9-5FEE-4E7C-B710-30EED3A4A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96025"/>
            <a:ext cx="111252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5DA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3EA4D9-6893-4DC6-A882-5F6ECCC6A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20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Ascend 310P · DaVinci · CCE-C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AFD016-4527-4337-B24B-BF9CD32DE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00800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3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CFEC14-F8D8-45F7-B4F2-BECC35995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66950"/>
            <a:ext cx="33337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5DAE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ECB308-78FB-475E-8ED9-C651744AE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574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86CE2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2550" b="1">
                <a:solidFill>
                  <a:srgbClr val="286CE2"/>
                </a:solidFill>
                <a:latin typeface="WenQuanYi Zen Hei"/>
                <a:ea typeface="WenQuanYi Zen Hei"/>
                <a:cs typeface="WenQuanYi Zen He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DB52B9-CBF7-4F41-84FE-1703959A1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95625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11318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2400" b="1">
                <a:solidFill>
                  <a:srgbClr val="111318"/>
                </a:solidFill>
                <a:latin typeface="WenQuanYi Zen Hei"/>
                <a:ea typeface="WenQuanYi Zen Hei"/>
                <a:cs typeface="WenQuanYi Zen Hei"/>
              </a:rPr>
              <a:t>准备真实输入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3B0817-D419-48AB-900B-CA663345B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81425"/>
            <a:ext cx="3333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9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固定 310P 与工具链版本。</a:t>
            </a:r>
          </a:p>
          <a:p xmlns:a="http://schemas.openxmlformats.org/drawingml/2006/main">
            <a:pPr>
              <a:defRPr sz="19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9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选择一个已知正确算子，</a:t>
            </a:r>
          </a:p>
          <a:p xmlns:a="http://schemas.openxmlformats.org/drawingml/2006/main">
            <a:pPr>
              <a:defRPr sz="19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9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提供 Python 参考与</a:t>
            </a:r>
          </a:p>
          <a:p xmlns:a="http://schemas.openxmlformats.org/drawingml/2006/main">
            <a:pPr>
              <a:defRPr sz="19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9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现有构建 / 测试方式。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F09D89-B267-4CD5-883E-BC3B8ADD0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66950"/>
            <a:ext cx="33337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5DAE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EDFE54-E791-4B30-A066-E5C2402FC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4574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86CE2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2550" b="1">
                <a:solidFill>
                  <a:srgbClr val="286CE2"/>
                </a:solidFill>
                <a:latin typeface="WenQuanYi Zen Hei"/>
                <a:ea typeface="WenQuanYi Zen Hei"/>
                <a:cs typeface="WenQuanYi Zen He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3B79FD-C817-4497-AC74-77E57557C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095625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11318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2400" b="1">
                <a:solidFill>
                  <a:srgbClr val="111318"/>
                </a:solidFill>
                <a:latin typeface="WenQuanYi Zen Hei"/>
                <a:ea typeface="WenQuanYi Zen Hei"/>
                <a:cs typeface="WenQuanYi Zen Hei"/>
              </a:rPr>
              <a:t>跑通最小闭环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52AE30-EE11-4698-AAAA-9526C6461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781425"/>
            <a:ext cx="3333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9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独立摄取初始知识。</a:t>
            </a:r>
          </a:p>
          <a:p xmlns:a="http://schemas.openxmlformats.org/drawingml/2006/main">
            <a:pPr>
              <a:defRPr sz="19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9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执行主流程到发布审计。</a:t>
            </a:r>
          </a:p>
          <a:p xmlns:a="http://schemas.openxmlformats.org/drawingml/2006/main">
            <a:pPr>
              <a:defRPr sz="19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9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检查构建、精度、性能</a:t>
            </a:r>
          </a:p>
          <a:p xmlns:a="http://schemas.openxmlformats.org/drawingml/2006/main">
            <a:pPr>
              <a:defRPr sz="19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9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是否都有真实记录。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FE1F0C-362A-4563-8577-F08ACF23D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266950"/>
            <a:ext cx="33337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5DAE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5AA940-E797-4242-86B2-CD4142C46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574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86CE2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2550" b="1">
                <a:solidFill>
                  <a:srgbClr val="286CE2"/>
                </a:solidFill>
                <a:latin typeface="WenQuanYi Zen Hei"/>
                <a:ea typeface="WenQuanYi Zen Hei"/>
                <a:cs typeface="WenQuanYi Zen Hei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2FBC01-367D-4125-A4E9-664C69FE6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095625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11318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2400" b="1">
                <a:solidFill>
                  <a:srgbClr val="111318"/>
                </a:solidFill>
                <a:latin typeface="WenQuanYi Zen Hei"/>
                <a:ea typeface="WenQuanYi Zen Hei"/>
                <a:cs typeface="WenQuanYi Zen Hei"/>
              </a:rPr>
              <a:t>检查可持续性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8D9262-E8F9-4A73-A244-0912B8255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781425"/>
            <a:ext cx="3333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9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故意触发一次失败回滚。</a:t>
            </a:r>
          </a:p>
          <a:p xmlns:a="http://schemas.openxmlformats.org/drawingml/2006/main">
            <a:pPr>
              <a:defRPr sz="19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9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验证代码与报告一致。</a:t>
            </a:r>
          </a:p>
          <a:p xmlns:a="http://schemas.openxmlformats.org/drawingml/2006/main">
            <a:pPr>
              <a:defRPr sz="19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9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再次运行 curation，</a:t>
            </a:r>
          </a:p>
          <a:p xmlns:a="http://schemas.openxmlformats.org/drawingml/2006/main">
            <a:pPr>
              <a:defRPr sz="19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950" b="0">
                <a:solidFill>
                  <a:srgbClr val="596371"/>
                </a:solidFill>
                <a:latin typeface="WenQuanYi Zen Hei"/>
                <a:ea typeface="WenQuanYi Zen Hei"/>
                <a:cs typeface="WenQuanYi Zen Hei"/>
              </a:rPr>
              <a:t>确认没有无价值重复。</a:t>
            </a:r>
          </a:p>
        </p:txBody>
      </p:sp>
    </p:spTree>
    <p:extLst>
      <p:ext uri="{BB962C8B-B14F-4D97-AF65-F5344CB8AC3E}">
        <p14:creationId xmlns:p14="http://schemas.microsoft.com/office/powerpoint/2010/main" val="19885704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2026-09-05T09:01:19.4150000Z</dcterms:created>
  <dcterms:modified xsi:type="dcterms:W3CDTF">2026-09-05T09:01:19.4150000Z</dcterms:modified>
</coreProperties>
</file>